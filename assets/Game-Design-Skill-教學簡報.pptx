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34071ae6a849e5" /><Relationship Type="http://schemas.openxmlformats.org/officeDocument/2006/relationships/extended-properties" Target="/docProps/app.xml" Id="R54793bc68e484100" /><Relationship Type="http://schemas.openxmlformats.org/officeDocument/2006/relationships/officeDocument" Target="/ppt/presentation.xml" Id="Rc06f4dcf673b4f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f843239c464255"/>
  </p:sldMasterIdLst>
  <p:notesMasterIdLst>
    <p:notesMasterId xmlns:r="http://schemas.openxmlformats.org/officeDocument/2006/relationships" r:id="R89cb37262a364f40"/>
  </p:notesMasterIdLst>
  <p:sldIdLst>
    <p:sldId xmlns:r="http://schemas.openxmlformats.org/officeDocument/2006/relationships" id="256" r:id="Ra4c2facecd39400c"/>
    <p:sldId xmlns:r="http://schemas.openxmlformats.org/officeDocument/2006/relationships" id="257" r:id="Re8978d6d2a1c4b4e"/>
    <p:sldId xmlns:r="http://schemas.openxmlformats.org/officeDocument/2006/relationships" id="258" r:id="R55f5ab2e22bb4efe"/>
    <p:sldId xmlns:r="http://schemas.openxmlformats.org/officeDocument/2006/relationships" id="259" r:id="R14af49555d634f35"/>
    <p:sldId xmlns:r="http://schemas.openxmlformats.org/officeDocument/2006/relationships" id="260" r:id="R8e55821caf764a4c"/>
    <p:sldId xmlns:r="http://schemas.openxmlformats.org/officeDocument/2006/relationships" id="261" r:id="Rb420fdb95e9840ca"/>
    <p:sldId xmlns:r="http://schemas.openxmlformats.org/officeDocument/2006/relationships" id="262" r:id="Rc31c266f9fc4447f"/>
    <p:sldId xmlns:r="http://schemas.openxmlformats.org/officeDocument/2006/relationships" id="263" r:id="R87f1bb5fdd8d4fa9"/>
    <p:sldId xmlns:r="http://schemas.openxmlformats.org/officeDocument/2006/relationships" id="264" r:id="R96a94fadbe8c4132"/>
    <p:sldId xmlns:r="http://schemas.openxmlformats.org/officeDocument/2006/relationships" id="265" r:id="R9370dceb579143c4"/>
    <p:sldId xmlns:r="http://schemas.openxmlformats.org/officeDocument/2006/relationships" id="266" r:id="R3b77c66fe3aa4688"/>
    <p:sldId xmlns:r="http://schemas.openxmlformats.org/officeDocument/2006/relationships" id="267" r:id="R8ceabb4581ac4023"/>
    <p:sldId xmlns:r="http://schemas.openxmlformats.org/officeDocument/2006/relationships" id="268" r:id="Rd7f99b0abd3741d6"/>
    <p:sldId xmlns:r="http://schemas.openxmlformats.org/officeDocument/2006/relationships" id="269" r:id="R9ac3958b8bed4610"/>
    <p:sldId xmlns:r="http://schemas.openxmlformats.org/officeDocument/2006/relationships" id="270" r:id="R0dbd77ce40944c15"/>
    <p:sldId xmlns:r="http://schemas.openxmlformats.org/officeDocument/2006/relationships" id="271" r:id="Re6b2d9127c884806"/>
    <p:sldId xmlns:r="http://schemas.openxmlformats.org/officeDocument/2006/relationships" id="272" r:id="R8c6d34c572fa4ed7"/>
    <p:sldId xmlns:r="http://schemas.openxmlformats.org/officeDocument/2006/relationships" id="273" r:id="Rea6ea7a30c7d46e2"/>
    <p:sldId xmlns:r="http://schemas.openxmlformats.org/officeDocument/2006/relationships" id="274" r:id="R6f68419d59dd455d"/>
    <p:sldId xmlns:r="http://schemas.openxmlformats.org/officeDocument/2006/relationships" id="275" r:id="R3878dd3afbcd4443"/>
    <p:sldId xmlns:r="http://schemas.openxmlformats.org/officeDocument/2006/relationships" id="276" r:id="R7ae80c338bb24693"/>
    <p:sldId xmlns:r="http://schemas.openxmlformats.org/officeDocument/2006/relationships" id="277" r:id="Re49b63e1f0e841db"/>
    <p:sldId xmlns:r="http://schemas.openxmlformats.org/officeDocument/2006/relationships" id="278" r:id="R4f866992e5084c4e"/>
    <p:sldId xmlns:r="http://schemas.openxmlformats.org/officeDocument/2006/relationships" id="279" r:id="R688e01c0534e4f8e"/>
    <p:sldId xmlns:r="http://schemas.openxmlformats.org/officeDocument/2006/relationships" id="280" r:id="R1e0d2e3c33234643"/>
    <p:sldId xmlns:r="http://schemas.openxmlformats.org/officeDocument/2006/relationships" id="281" r:id="R9066fe7dce6a470c"/>
    <p:sldId xmlns:r="http://schemas.openxmlformats.org/officeDocument/2006/relationships" id="282" r:id="R7f59bdcc55fa4594"/>
    <p:sldId xmlns:r="http://schemas.openxmlformats.org/officeDocument/2006/relationships" id="283" r:id="R6daecaf752e64296"/>
    <p:sldId xmlns:r="http://schemas.openxmlformats.org/officeDocument/2006/relationships" id="284" r:id="Rb22fd7a7f6f84479"/>
    <p:sldId xmlns:r="http://schemas.openxmlformats.org/officeDocument/2006/relationships" id="285" r:id="Rbf320cd71b564e63"/>
    <p:sldId xmlns:r="http://schemas.openxmlformats.org/officeDocument/2006/relationships" id="286" r:id="R2617ad166b31402a"/>
    <p:sldId xmlns:r="http://schemas.openxmlformats.org/officeDocument/2006/relationships" id="287" r:id="R216145849aee4f16"/>
    <p:sldId xmlns:r="http://schemas.openxmlformats.org/officeDocument/2006/relationships" id="288" r:id="Rf936666202124b51"/>
    <p:sldId xmlns:r="http://schemas.openxmlformats.org/officeDocument/2006/relationships" id="289" r:id="R3f4c6fc9f8c94357"/>
    <p:sldId xmlns:r="http://schemas.openxmlformats.org/officeDocument/2006/relationships" id="290" r:id="Rf3263f8e371f4ee6"/>
    <p:sldId xmlns:r="http://schemas.openxmlformats.org/officeDocument/2006/relationships" id="291" r:id="R631600328a5b46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57c663980249a7" /><Relationship Type="http://schemas.openxmlformats.org/officeDocument/2006/relationships/slideMaster" Target="/ppt/slideMasters/slideMaster1.xml" Id="Ra5f843239c464255" /><Relationship Type="http://schemas.openxmlformats.org/officeDocument/2006/relationships/notesMaster" Target="/ppt/notesMasters/notesMaster1.xml" Id="R89cb37262a364f40" /><Relationship Type="http://schemas.openxmlformats.org/officeDocument/2006/relationships/presProps" Target="/ppt/presProps.xml" Id="R1d81fbac7c854ee3" /><Relationship Type="http://schemas.openxmlformats.org/officeDocument/2006/relationships/tableStyles" Target="/ppt/tableStyles.xml" Id="R645f1eaf06ee408a" /><Relationship Type="http://schemas.openxmlformats.org/officeDocument/2006/relationships/slide" Target="/ppt/slides/slide1.xml" Id="Ra4c2facecd39400c" /><Relationship Type="http://schemas.openxmlformats.org/officeDocument/2006/relationships/slide" Target="/ppt/slides/slide2.xml" Id="Re8978d6d2a1c4b4e" /><Relationship Type="http://schemas.openxmlformats.org/officeDocument/2006/relationships/slide" Target="/ppt/slides/slide3.xml" Id="R55f5ab2e22bb4efe" /><Relationship Type="http://schemas.openxmlformats.org/officeDocument/2006/relationships/slide" Target="/ppt/slides/slide4.xml" Id="R14af49555d634f35" /><Relationship Type="http://schemas.openxmlformats.org/officeDocument/2006/relationships/slide" Target="/ppt/slides/slide5.xml" Id="R8e55821caf764a4c" /><Relationship Type="http://schemas.openxmlformats.org/officeDocument/2006/relationships/slide" Target="/ppt/slides/slide6.xml" Id="Rb420fdb95e9840ca" /><Relationship Type="http://schemas.openxmlformats.org/officeDocument/2006/relationships/slide" Target="/ppt/slides/slide7.xml" Id="Rc31c266f9fc4447f" /><Relationship Type="http://schemas.openxmlformats.org/officeDocument/2006/relationships/slide" Target="/ppt/slides/slide8.xml" Id="R87f1bb5fdd8d4fa9" /><Relationship Type="http://schemas.openxmlformats.org/officeDocument/2006/relationships/slide" Target="/ppt/slides/slide9.xml" Id="R96a94fadbe8c4132" /><Relationship Type="http://schemas.openxmlformats.org/officeDocument/2006/relationships/slide" Target="/ppt/slides/slide10.xml" Id="R9370dceb579143c4" /><Relationship Type="http://schemas.openxmlformats.org/officeDocument/2006/relationships/slide" Target="/ppt/slides/slide11.xml" Id="R3b77c66fe3aa4688" /><Relationship Type="http://schemas.openxmlformats.org/officeDocument/2006/relationships/slide" Target="/ppt/slides/slide12.xml" Id="R8ceabb4581ac4023" /><Relationship Type="http://schemas.openxmlformats.org/officeDocument/2006/relationships/slide" Target="/ppt/slides/slide13.xml" Id="Rd7f99b0abd3741d6" /><Relationship Type="http://schemas.openxmlformats.org/officeDocument/2006/relationships/slide" Target="/ppt/slides/slide14.xml" Id="R9ac3958b8bed4610" /><Relationship Type="http://schemas.openxmlformats.org/officeDocument/2006/relationships/slide" Target="/ppt/slides/slide15.xml" Id="R0dbd77ce40944c15" /><Relationship Type="http://schemas.openxmlformats.org/officeDocument/2006/relationships/slide" Target="/ppt/slides/slide16.xml" Id="Re6b2d9127c884806" /><Relationship Type="http://schemas.openxmlformats.org/officeDocument/2006/relationships/slide" Target="/ppt/slides/slide17.xml" Id="R8c6d34c572fa4ed7" /><Relationship Type="http://schemas.openxmlformats.org/officeDocument/2006/relationships/slide" Target="/ppt/slides/slide18.xml" Id="Rea6ea7a30c7d46e2" /><Relationship Type="http://schemas.openxmlformats.org/officeDocument/2006/relationships/slide" Target="/ppt/slides/slide19.xml" Id="R6f68419d59dd455d" /><Relationship Type="http://schemas.openxmlformats.org/officeDocument/2006/relationships/slide" Target="/ppt/slides/slide20.xml" Id="R3878dd3afbcd4443" /><Relationship Type="http://schemas.openxmlformats.org/officeDocument/2006/relationships/slide" Target="/ppt/slides/slide21.xml" Id="R7ae80c338bb24693" /><Relationship Type="http://schemas.openxmlformats.org/officeDocument/2006/relationships/slide" Target="/ppt/slides/slide22.xml" Id="Re49b63e1f0e841db" /><Relationship Type="http://schemas.openxmlformats.org/officeDocument/2006/relationships/slide" Target="/ppt/slides/slide23.xml" Id="R4f866992e5084c4e" /><Relationship Type="http://schemas.openxmlformats.org/officeDocument/2006/relationships/slide" Target="/ppt/slides/slide24.xml" Id="R688e01c0534e4f8e" /><Relationship Type="http://schemas.openxmlformats.org/officeDocument/2006/relationships/slide" Target="/ppt/slides/slide25.xml" Id="R1e0d2e3c33234643" /><Relationship Type="http://schemas.openxmlformats.org/officeDocument/2006/relationships/slide" Target="/ppt/slides/slide26.xml" Id="R9066fe7dce6a470c" /><Relationship Type="http://schemas.openxmlformats.org/officeDocument/2006/relationships/slide" Target="/ppt/slides/slide27.xml" Id="R7f59bdcc55fa4594" /><Relationship Type="http://schemas.openxmlformats.org/officeDocument/2006/relationships/slide" Target="/ppt/slides/slide28.xml" Id="R6daecaf752e64296" /><Relationship Type="http://schemas.openxmlformats.org/officeDocument/2006/relationships/slide" Target="/ppt/slides/slide29.xml" Id="Rb22fd7a7f6f84479" /><Relationship Type="http://schemas.openxmlformats.org/officeDocument/2006/relationships/slide" Target="/ppt/slides/slide30.xml" Id="Rbf320cd71b564e63" /><Relationship Type="http://schemas.openxmlformats.org/officeDocument/2006/relationships/slide" Target="/ppt/slides/slide31.xml" Id="R2617ad166b31402a" /><Relationship Type="http://schemas.openxmlformats.org/officeDocument/2006/relationships/slide" Target="/ppt/slides/slide32.xml" Id="R216145849aee4f16" /><Relationship Type="http://schemas.openxmlformats.org/officeDocument/2006/relationships/slide" Target="/ppt/slides/slide33.xml" Id="Rf936666202124b51" /><Relationship Type="http://schemas.openxmlformats.org/officeDocument/2006/relationships/slide" Target="/ppt/slides/slide34.xml" Id="R3f4c6fc9f8c94357" /><Relationship Type="http://schemas.openxmlformats.org/officeDocument/2006/relationships/slide" Target="/ppt/slides/slide35.xml" Id="Rf3263f8e371f4ee6" /><Relationship Type="http://schemas.openxmlformats.org/officeDocument/2006/relationships/slide" Target="/ppt/slides/slide36.xml" Id="R631600328a5b46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d990c6ad164f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9bfbfed5f543d4" /><Relationship Type="http://schemas.openxmlformats.org/officeDocument/2006/relationships/notesMaster" Target="/ppt/notesMasters/notesMaster1.xml" Id="R4f5d2869ab884a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d8b2c7831c440f" /><Relationship Type="http://schemas.openxmlformats.org/officeDocument/2006/relationships/notesMaster" Target="/ppt/notesMasters/notesMaster1.xml" Id="R9c5c9b3784204a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79b4c41141485e" /><Relationship Type="http://schemas.openxmlformats.org/officeDocument/2006/relationships/notesMaster" Target="/ppt/notesMasters/notesMaster1.xml" Id="R3789a0a7581844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95d59ff0694aab" /><Relationship Type="http://schemas.openxmlformats.org/officeDocument/2006/relationships/notesMaster" Target="/ppt/notesMasters/notesMaster1.xml" Id="R494dc6635afc4d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979a57907e4a4c" /><Relationship Type="http://schemas.openxmlformats.org/officeDocument/2006/relationships/notesMaster" Target="/ppt/notesMasters/notesMaster1.xml" Id="Rff52a6edf64343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b2616e3f2c410e" /><Relationship Type="http://schemas.openxmlformats.org/officeDocument/2006/relationships/notesMaster" Target="/ppt/notesMasters/notesMaster1.xml" Id="R41152298c61945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d231c9e7204a67" /><Relationship Type="http://schemas.openxmlformats.org/officeDocument/2006/relationships/notesMaster" Target="/ppt/notesMasters/notesMaster1.xml" Id="R5dedf73f9bb848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a2116c1b064a32" /><Relationship Type="http://schemas.openxmlformats.org/officeDocument/2006/relationships/notesMaster" Target="/ppt/notesMasters/notesMaster1.xml" Id="R081696ca96664e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20236c61d64753" /><Relationship Type="http://schemas.openxmlformats.org/officeDocument/2006/relationships/notesMaster" Target="/ppt/notesMasters/notesMaster1.xml" Id="R019a13c1fb2047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b577f7f2e64886" /><Relationship Type="http://schemas.openxmlformats.org/officeDocument/2006/relationships/notesMaster" Target="/ppt/notesMasters/notesMaster1.xml" Id="Rca0b9b9079ff41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828c63e3e44ad0" /><Relationship Type="http://schemas.openxmlformats.org/officeDocument/2006/relationships/notesMaster" Target="/ppt/notesMasters/notesMaster1.xml" Id="R072ae51ac29b4d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1da54b6d4d48cc" /><Relationship Type="http://schemas.openxmlformats.org/officeDocument/2006/relationships/notesMaster" Target="/ppt/notesMasters/notesMaster1.xml" Id="R3fba3931b1ec49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02b55eabd14f45" /><Relationship Type="http://schemas.openxmlformats.org/officeDocument/2006/relationships/notesMaster" Target="/ppt/notesMasters/notesMaster1.xml" Id="Rb15f3611d21547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ed29a391bf447a" /><Relationship Type="http://schemas.openxmlformats.org/officeDocument/2006/relationships/notesMaster" Target="/ppt/notesMasters/notesMaster1.xml" Id="R2ae59478562749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f2900f82a34d88" /><Relationship Type="http://schemas.openxmlformats.org/officeDocument/2006/relationships/notesMaster" Target="/ppt/notesMasters/notesMaster1.xml" Id="R38a5c5ae39f1491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d0f06a8bd6546f2" /><Relationship Type="http://schemas.openxmlformats.org/officeDocument/2006/relationships/notesMaster" Target="/ppt/notesMasters/notesMaster1.xml" Id="Rc9ed0619e6924cc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8be597848dd4238" /><Relationship Type="http://schemas.openxmlformats.org/officeDocument/2006/relationships/notesMaster" Target="/ppt/notesMasters/notesMaster1.xml" Id="R84a3f1043edd477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0b6163074044777" /><Relationship Type="http://schemas.openxmlformats.org/officeDocument/2006/relationships/notesMaster" Target="/ppt/notesMasters/notesMaster1.xml" Id="R0feb914ac21e4b5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2e98ef8677e4a4c" /><Relationship Type="http://schemas.openxmlformats.org/officeDocument/2006/relationships/notesMaster" Target="/ppt/notesMasters/notesMaster1.xml" Id="Rf48a781e47cd498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dbe0cc8c4f04c9a" /><Relationship Type="http://schemas.openxmlformats.org/officeDocument/2006/relationships/notesMaster" Target="/ppt/notesMasters/notesMaster1.xml" Id="R139aeb36c6d24d1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d102d0a5b5b4114" /><Relationship Type="http://schemas.openxmlformats.org/officeDocument/2006/relationships/notesMaster" Target="/ppt/notesMasters/notesMaster1.xml" Id="Rd9d7b21b9e7c45b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c2da423caa74879" /><Relationship Type="http://schemas.openxmlformats.org/officeDocument/2006/relationships/notesMaster" Target="/ppt/notesMasters/notesMaster1.xml" Id="R4b1758e09684455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4bc8e615ce845c7" /><Relationship Type="http://schemas.openxmlformats.org/officeDocument/2006/relationships/notesMaster" Target="/ppt/notesMasters/notesMaster1.xml" Id="Rcc6c09fd1957476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1cb49697eb24c26" /><Relationship Type="http://schemas.openxmlformats.org/officeDocument/2006/relationships/notesMaster" Target="/ppt/notesMasters/notesMaster1.xml" Id="Rffb0b1a20c8a416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8c22592ba644065" /><Relationship Type="http://schemas.openxmlformats.org/officeDocument/2006/relationships/notesMaster" Target="/ppt/notesMasters/notesMaster1.xml" Id="R1a1b5c97ae5f4d2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223c3fa193c496a" /><Relationship Type="http://schemas.openxmlformats.org/officeDocument/2006/relationships/notesMaster" Target="/ppt/notesMasters/notesMaster1.xml" Id="Re3e94d7d7069413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e1a1426fc8c4c84" /><Relationship Type="http://schemas.openxmlformats.org/officeDocument/2006/relationships/notesMaster" Target="/ppt/notesMasters/notesMaster1.xml" Id="R6bd28f0a87774d9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495186a82da48cb" /><Relationship Type="http://schemas.openxmlformats.org/officeDocument/2006/relationships/notesMaster" Target="/ppt/notesMasters/notesMaster1.xml" Id="Rbedcfb4b4b9e41a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af81f44487542f8" /><Relationship Type="http://schemas.openxmlformats.org/officeDocument/2006/relationships/notesMaster" Target="/ppt/notesMasters/notesMaster1.xml" Id="Re37fffad6297496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5168919ede343cc" /><Relationship Type="http://schemas.openxmlformats.org/officeDocument/2006/relationships/notesMaster" Target="/ppt/notesMasters/notesMaster1.xml" Id="Rdb8e428de60c47f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6faee4e41f6409e" /><Relationship Type="http://schemas.openxmlformats.org/officeDocument/2006/relationships/notesMaster" Target="/ppt/notesMasters/notesMaster1.xml" Id="Re3bf859467eb4df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18127d55b6647aa" /><Relationship Type="http://schemas.openxmlformats.org/officeDocument/2006/relationships/notesMaster" Target="/ppt/notesMasters/notesMaster1.xml" Id="R453b21e7a34a477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8972d7b679b490d" /><Relationship Type="http://schemas.openxmlformats.org/officeDocument/2006/relationships/notesMaster" Target="/ppt/notesMasters/notesMaster1.xml" Id="Rfa735edae10941d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57d970d098142ec" /><Relationship Type="http://schemas.openxmlformats.org/officeDocument/2006/relationships/notesMaster" Target="/ppt/notesMasters/notesMaster1.xml" Id="Rbb1ea239198249f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9caf94b0a4945d6" /><Relationship Type="http://schemas.openxmlformats.org/officeDocument/2006/relationships/notesMaster" Target="/ppt/notesMasters/notesMaster1.xml" Id="Ra7a30d7a4f96493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a1884a119ee456c" /><Relationship Type="http://schemas.openxmlformats.org/officeDocument/2006/relationships/notesMaster" Target="/ppt/notesMasters/notesMaster1.xml" Id="R1b2ab94d40784c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用一張圖建立整份簡報的核心隱喻：多條候選路徑競爭，最終由人類在證據節點做決定。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ImageGen cover illustration; Game-Design Skill manual v1.2.0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此頁是教學導覽頁。先讓聽眾記住四個動詞：產生、競爭、排序、核准。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Game-Design Skill manual v1.2.0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三種模式共享競賽與人類核准，但Teaching增加反思與作業，Research Game增加效度與版本凍結。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Game-Design Skill manual v1.2.0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架構的安全核心：AI不能越過人類核准；製作工具也不能反過來決定玩法規則。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Game-Design Skill manual v1.2.0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用兩道紅色核准點說明變更控制：玩法與視覺分開決策，沉默不等於同意。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Game-Design Skill manual v1.2.0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候選差異要出現在決策循環，不是名稱、背景或角色皮膚。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Game-Design Skill manual v1.2.0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盲評的目的不是模擬多人熱鬧，而是分離不同風險視角，減少單一敘事壟斷。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Game-Design Skill manual v1.2.0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固定跑很多輪不等於強化。當新一代不再產生可測的新假設，就應停止。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Game-Design Skill manual v1.2.0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Game的R預設門檻較高。Hard Gate失敗者不進入Pareto排名。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Game-Design Skill manual v1.2.0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把『AI預估會好玩』與『玩家真的重玩』分開，避免證據等級混用。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Game-Design Skill manual v1.2.0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R_edu是玩法診斷值。所有數值必須由確定性規則計算，LLM只能解釋，不能在執行時決定分數。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Game-Design Skill manual v1.2.0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本頁把教育獎勵函數翻成初學者語言：先計算 L/E/M/A 的正向價值，再扣 G/C 風險。w 是正向權重，p 是懲罰係數；R_edu 是設計診斷，不是學習成效。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Game-Design Skill references/educational-reward-function.md v1.2.0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本頁逐一解釋 L/E/M/A/G/C 的構念與觀察方式。特別提醒：time-on-task 不能單獨代表投入，速度不能單獨代表學習；G 與 C 是需要扣分或觸發審查的風險。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Game-Design Skill references/educational-reward-function.md v1.2.0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 Skill reference 的示例：正向分數 76.8，猜答懲罰 3.0，負荷懲罰 3.0，R_edu=70.8，落在 revise/test range。這是計算示範，不是 COAST 玩家數據。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Game-Design Skill references/educational-reward-function.md v1.2.0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本頁把教育遊戲導入拆成四步：學習目標、玩家行動、系統回饋、證據與修正。R_edu 用來檢查設計是否支持學習，但不取代正式學習成效指標。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Game-Design Skill references/educational-reward-function.md; COAST project design specification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本頁用三欄協作循環說明如何引導 AI 與人類：人類先鎖定目標、權重與硬限制；AI 批量提出候選、盲評並說明假設；人類依證據選擇並指定下一個否證測試。AI 不可在 runtime 修改權重或分數，也不可把 AI pre-score 說成玩家證據。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Game-Design Skill manual v1.2.0; references/educational-reward-function.md; references/competition-protocol.md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本頁提供可直接套用的協作腳本。Learning-first profile 數值取自 Skill 的 preset profile，仍需在正式評估前由開發者確認；所有 AI 輸出都要經過 Hard Gates、證據標籤與人類核准。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Game-Design Skill manual v1.2.0; references/educational-reward-function.md; references/teaching-mode.md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本頁用閉合循環介紹 Reinforcement Learning：agent 觀察 state、採取 action，environment 回傳 reward 與 next state，接著更新 policy，再回到下一輪 state。右側對照本 Skill：brief 與限制形成狀態，候選方案與修正是行動，G/R/D、R_edu 與玩家證據提供回饋，記錄理由並由人類核准後才進入下一輪。這是概念上的流程類比，不是宣稱本 Skill 是自主 RL 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Sutton &amp; Barto, Reinforcement Learning: An Introduction, 2nd ed. (2018), https://mitpress.ublish.com/book/reinforcement-learning-an-introduction-2; Game-Design Skill educational-reward-function.md v1.2.0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本頁用初學者能理解的方式解釋競賽如何找出更好的設計：先界定限制，再產生具有差異的候選，透過盲評與 Hard Gates 淘汰不可接受方案，再用 G/R/D 與 R_edu 排序，最後交由人類選擇並指定下一個可證偽測試。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Game-Design Skill competition-protocol.md; scoring-rubric.md; educational-reward-function.md v1.2.0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本頁是 COAST 的示意應用，不是玩家實證結果。玩家在一個五分鐘海岸任務中，先處理海平面上升與侵蝕，再看到政策後果，最後修正一次。系統以 Climate Resilience、Coastal Society、Integrated Action 計算 deterministic CADS，並記錄 Initial 與 Revised 形成 learning trajectory。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COAST project design specification; Game-Design Skill manual v1.2.0; ImageGen-generated illustration stored as assets/coast-game-scene-imagegen-v1.png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本頁把 COAST 的方法抽象成可移植模板。其他教育遊戲可以更換領域與 action，但仍需先定義 state、行動、可觀察 feedback、deterministic rubric、Hard Gates 與人類核准關卡。四個例子是設計假設，不是已完成的遊戲或玩家證據。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Game-Design Skill v1.2.0; examples are design hypotheses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本頁將配套 Skill 按功能分類。Sites、視覺、Remotion、文件與瀏覽器測試可以各自路由；SVG／CSS／canvas 是確定性的製作方式；目前沒有已安裝的專用背景音樂／音效生成 Skill，因此必須使用授權或使用者提供的音訊並記錄 provenance。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Codex skills and plugins documentation; Remotion documentation; MDN SVG documentation; OpenAI Audio documentation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本頁提供配套工具與學習資源的官方連結。Codex Skill 與 Plugin 的安裝管理以 OpenAI 官方文件與 openai/skills catalog 為準；Remotion、SVG 與 Audio 使用各自官方文件。安裝本身不代表工具適合當前任務，仍須回到 game-design Skill 的證據、核准與測試關卡。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https://developers.openai.com/codex/skills/; https://developers.openai.com/codex/plugins/; https://github.com/openai/skills; https://www.remotion.dev/docs/installation; https://developer.mozilla.org/en-US/docs/Web/SVG; https://developers.openai.com/api/docs/guides/audio; https://mitpress.ublish.com/book/reinforcement-learning-an-introduction-2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這一頁把開發者訪談視覺化。可替換為Learning-first、Engagement-first或Accessibility-sensitive profile。這些權重是設計診斷設定，不是由模型自行學出的 runtime policy。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Game-Design Skill manual v1.2.0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讓開發者先選profile或自行分配100%。看見候選分數後改權重，必須記錄並全部重評。權重只定義評估偏好，不會自動更新成黑箱 policy。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Game-Design Skill manual v1.2.0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動畫語法必須表達因果，並提供reduced-motion；音訊不能是唯一的重要資訊來源。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Game-Design Skill manual v1.2.0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給學生rubric後才公布AI排名；學生可以不同意AI，但必須提出證據與測試。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Game-Design Skill manual v1.2.0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前後測使用等值但不同的新海岸；前測不提供回饋。三關機制不能重複。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COAST project design specification; Game-Design Skill manual v1.2.0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示例分數是AI預評。完成玩家測試後才可提高證據層級與信心。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Game-Design Skill manual v1.2.0; COAST project design specification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本頁把 course-learning-tasks.md 的兩類任務放進教學流程。第一類任務讓學生真的安裝與驗證 Skill；第二類任務把 Reinforcement Learning 類比、R_edu 與人類核准變成可討論的課堂產出。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references/course-learning-tasks.md; references/teaching-mode.md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本頁將安裝步驟拆成可觀察的四個節點。Windows 的驗證命令建議使用 UTF-8 模式，例如 python -X utf8 quick_validate.py，以避免系統編碼造成誤判。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references/course-learning-tasks.md; SKILL.md Installation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本頁提供學生第一次使用的最小 prompt 與提交證據。教師可以先讓學生預測輸出，再讓 Skill 執行，最後比較期待與實際結果。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references/course-learning-tasks.md; references/teaching-mode.md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三輪討論對應 course-learning-tasks.md。教學時先公布 rubric，再揭示 AI 排名；評量理由與證據品質，不評量學生是否同意 AI。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references/course-learning-tasks.md; references/teaching-mode.md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本頁把 student worksheet、instructor rubric 與課程任務整合成一張課堂收束頁。評量比例為問題與限制20%、候選差異15%、證據式G/R/D評分20%、迭代理由20%、原型測試15%、AI素養與人類決策10%。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references/course-learning-tasks.md; assets/student-worksheet.md; assets/instructor-rubric.md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本頁整理全簡報使用的主要縮寫與專有名詞。COAST 在本簡報中是海岸氣候教育遊戲案例名稱，沒有在專案規格中被定義為字母縮寫，因此不自行臆造展開名稱。工具名詞補充：Remotion、Sites、Canvas 是工具或技術名稱，不是縮寫。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Game-Design Skill manual v1.2.0; educational-reward-function.md; scoring-rubric.md; COAST project design specification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結語：好的流程不是讓AI自己強化，而是讓每一次改動都能被質疑、測試與追溯。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Game-Design Skill manual v1.2.0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2e3d9f79924d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08cbb4959e4f09" /><Relationship Type="http://schemas.openxmlformats.org/officeDocument/2006/relationships/slideLayout" Target="/ppt/slideLayouts/slideLayout1.xml" Id="R3bb3fea510f64b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b3fea510f64b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0a3630bd348f3" /><Relationship Type="http://schemas.openxmlformats.org/officeDocument/2006/relationships/image" Target="/ppt/media/image.png" Id="Rdda4d156d8de41a6" /><Relationship Type="http://schemas.openxmlformats.org/officeDocument/2006/relationships/notesSlide" Target="/ppt/notesSlides/notesSlide1.xml" Id="R1e9d6cf4b51847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6dc9ea87b4d85" /><Relationship Type="http://schemas.openxmlformats.org/officeDocument/2006/relationships/notesSlide" Target="/ppt/notesSlides/notesSlide2.xml" Id="R138c4f16b16049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cbd903e194afd" /><Relationship Type="http://schemas.openxmlformats.org/officeDocument/2006/relationships/notesSlide" Target="/ppt/notesSlides/notesSlide3.xml" Id="R5621ddeb7af444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73d5dd9bb4158" /><Relationship Type="http://schemas.openxmlformats.org/officeDocument/2006/relationships/image" Target="/ppt/media/image2.png" Id="Rea57468b1bb84ecb" /><Relationship Type="http://schemas.openxmlformats.org/officeDocument/2006/relationships/notesSlide" Target="/ppt/notesSlides/notesSlide4.xml" Id="Rcac11ad088ae48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7ff2168054d3f" /><Relationship Type="http://schemas.openxmlformats.org/officeDocument/2006/relationships/image" Target="/ppt/media/image3.png" Id="Ra6c2a96890c14dc4" /><Relationship Type="http://schemas.openxmlformats.org/officeDocument/2006/relationships/notesSlide" Target="/ppt/notesSlides/notesSlide5.xml" Id="Rfc4dfb415c9742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b0c471e1a4000" /><Relationship Type="http://schemas.openxmlformats.org/officeDocument/2006/relationships/notesSlide" Target="/ppt/notesSlides/notesSlide6.xml" Id="R235e761434f449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665299763d4cbb" /><Relationship Type="http://schemas.openxmlformats.org/officeDocument/2006/relationships/notesSlide" Target="/ppt/notesSlides/notesSlide7.xml" Id="Ra4a52f0897e044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e4d76c1c1469f" /><Relationship Type="http://schemas.openxmlformats.org/officeDocument/2006/relationships/image" Target="/ppt/media/image4.png" Id="Rb4a4fa2753ba4807" /><Relationship Type="http://schemas.openxmlformats.org/officeDocument/2006/relationships/notesSlide" Target="/ppt/notesSlides/notesSlide8.xml" Id="R52d3e67d9a3a43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75571c1bd4fb4" /><Relationship Type="http://schemas.openxmlformats.org/officeDocument/2006/relationships/notesSlide" Target="/ppt/notesSlides/notesSlide9.xml" Id="R238ea3024bbe4f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75c01f5214466" /><Relationship Type="http://schemas.openxmlformats.org/officeDocument/2006/relationships/image" Target="/ppt/media/image5.png" Id="Re854bdaba0384a3a" /><Relationship Type="http://schemas.openxmlformats.org/officeDocument/2006/relationships/notesSlide" Target="/ppt/notesSlides/notesSlide10.xml" Id="R1b7582a359d842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50cf76ba24b15" /><Relationship Type="http://schemas.openxmlformats.org/officeDocument/2006/relationships/image" Target="/ppt/media/image6.png" Id="Rb93307ff13ce4bc4" /><Relationship Type="http://schemas.openxmlformats.org/officeDocument/2006/relationships/notesSlide" Target="/ppt/notesSlides/notesSlide11.xml" Id="R07aaa5026bad43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b42e6e0e240d0" /><Relationship Type="http://schemas.openxmlformats.org/officeDocument/2006/relationships/notesSlide" Target="/ppt/notesSlides/notesSlide12.xml" Id="R336e8f8f4bcd4b3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24bf607804438" /><Relationship Type="http://schemas.openxmlformats.org/officeDocument/2006/relationships/notesSlide" Target="/ppt/notesSlides/notesSlide13.xml" Id="R9d6f029c927443e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d35aa39a64577" /><Relationship Type="http://schemas.openxmlformats.org/officeDocument/2006/relationships/notesSlide" Target="/ppt/notesSlides/notesSlide14.xml" Id="R51c0d31df9a04b1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6d437ef114f8d" /><Relationship Type="http://schemas.openxmlformats.org/officeDocument/2006/relationships/notesSlide" Target="/ppt/notesSlides/notesSlide15.xml" Id="R30ea962b1d1349e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384c180c04fd3" /><Relationship Type="http://schemas.openxmlformats.org/officeDocument/2006/relationships/notesSlide" Target="/ppt/notesSlides/notesSlide16.xml" Id="R9e7614fb0b02411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e85ca83494496" /><Relationship Type="http://schemas.openxmlformats.org/officeDocument/2006/relationships/notesSlide" Target="/ppt/notesSlides/notesSlide17.xml" Id="R33e2798d12024e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509f64277472e" /><Relationship Type="http://schemas.openxmlformats.org/officeDocument/2006/relationships/notesSlide" Target="/ppt/notesSlides/notesSlide18.xml" Id="Rd201be620a5540a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144da65c74226" /><Relationship Type="http://schemas.openxmlformats.org/officeDocument/2006/relationships/notesSlide" Target="/ppt/notesSlides/notesSlide19.xml" Id="R9fea1f54531045f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b7e2933a64f6d" /><Relationship Type="http://schemas.openxmlformats.org/officeDocument/2006/relationships/image" Target="/ppt/media/image7.png" Id="Rbc665f9b97494f51" /><Relationship Type="http://schemas.openxmlformats.org/officeDocument/2006/relationships/notesSlide" Target="/ppt/notesSlides/notesSlide20.xml" Id="R656c8aa75287403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02739df074d2e" /><Relationship Type="http://schemas.openxmlformats.org/officeDocument/2006/relationships/notesSlide" Target="/ppt/notesSlides/notesSlide21.xml" Id="R74d0567b2345441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14fe076584b43" /><Relationship Type="http://schemas.openxmlformats.org/officeDocument/2006/relationships/notesSlide" Target="/ppt/notesSlides/notesSlide22.xml" Id="R56151ae3f36741f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f2036aa7c41b7" /><Relationship Type="http://schemas.openxmlformats.org/officeDocument/2006/relationships/notesSlide" Target="/ppt/notesSlides/notesSlide23.xml" Id="R5b803f05abfa47b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89eb6c4174a58" /><Relationship Type="http://schemas.openxmlformats.org/officeDocument/2006/relationships/notesSlide" Target="/ppt/notesSlides/notesSlide24.xml" Id="R7e47a3e5082244b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ec25490304280" /><Relationship Type="http://schemas.openxmlformats.org/officeDocument/2006/relationships/notesSlide" Target="/ppt/notesSlides/notesSlide25.xml" Id="Rba67a32dcdf944e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068598011439f" /><Relationship Type="http://schemas.openxmlformats.org/officeDocument/2006/relationships/notesSlide" Target="/ppt/notesSlides/notesSlide26.xml" Id="Rd28cf9a6676244f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6b97ef08e475a" /><Relationship Type="http://schemas.openxmlformats.org/officeDocument/2006/relationships/notesSlide" Target="/ppt/notesSlides/notesSlide27.xml" Id="Rcfc895cc3b844a4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d1acd2fc94d26" /><Relationship Type="http://schemas.openxmlformats.org/officeDocument/2006/relationships/notesSlide" Target="/ppt/notesSlides/notesSlide28.xml" Id="Rc7b338c5030b40b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7b091a7f1430c" /><Relationship Type="http://schemas.openxmlformats.org/officeDocument/2006/relationships/notesSlide" Target="/ppt/notesSlides/notesSlide29.xml" Id="R364b768f1035472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46631fd6b4cd0" /><Relationship Type="http://schemas.openxmlformats.org/officeDocument/2006/relationships/notesSlide" Target="/ppt/notesSlides/notesSlide30.xml" Id="R83d0ccf424bb4bf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6b1d49bad438d" /><Relationship Type="http://schemas.openxmlformats.org/officeDocument/2006/relationships/notesSlide" Target="/ppt/notesSlides/notesSlide31.xml" Id="R3730c34c6fe34e0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a34ae8c1f4b94" /><Relationship Type="http://schemas.openxmlformats.org/officeDocument/2006/relationships/notesSlide" Target="/ppt/notesSlides/notesSlide32.xml" Id="R8f26be1d05db4d7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7e6bc487e4b84" /><Relationship Type="http://schemas.openxmlformats.org/officeDocument/2006/relationships/notesSlide" Target="/ppt/notesSlides/notesSlide33.xml" Id="R8908d75f79654be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2e73b68a64f8e" /><Relationship Type="http://schemas.openxmlformats.org/officeDocument/2006/relationships/notesSlide" Target="/ppt/notesSlides/notesSlide34.xml" Id="Rda670e3e1be04db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3733e2b774077" /><Relationship Type="http://schemas.openxmlformats.org/officeDocument/2006/relationships/notesSlide" Target="/ppt/notesSlides/notesSlide35.xml" Id="R0b1b3497a83b41e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e510172184683" /><Relationship Type="http://schemas.openxmlformats.org/officeDocument/2006/relationships/notesSlide" Target="/ppt/notesSlides/notesSlide36.xml" Id="Rb84ac0de820647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1E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4d156d8de41a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07C84-8853-4B75-802F-6CA0FBEF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E2B"/>
          </a:solidFill>
          <a:ln xmlns:a="http://schemas.openxmlformats.org/drawingml/2006/main" w="9525">
            <a:solidFill>
              <a:srgbClr val="051E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A1959-BD62-4686-A465-4FE240CB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781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467BA-091F-49F8-84AB-5F7593D5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GAME-DESIGN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5C159-66EF-4169-9EA1-F0C524CC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3905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rPr>
              <a:t>AI遊戲設計競賽</a:t>
            </a:r>
          </a:p>
          <a:p xmlns:a="http://schemas.openxmlformats.org/drawingml/2006/main">
            <a:pPr algn="l">
              <a:defRPr sz="2925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rPr>
              <a:t>Artificial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C03BF-B92F-4019-B3CD-DF98A0D6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7E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D7E7EA"/>
                </a:solidFill>
                <a:latin typeface="Microsoft JhengHei"/>
                <a:ea typeface="Microsoft JhengHei"/>
                <a:cs typeface="Microsoft JhengHei"/>
              </a:rPr>
              <a:t>讓多個玩法先競爭</a:t>
            </a:r>
          </a:p>
          <a:p xmlns:a="http://schemas.openxmlformats.org/drawingml/2006/main">
            <a:pPr algn="l">
              <a:defRPr sz="1725" b="0">
                <a:solidFill>
                  <a:srgbClr val="D7E7E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D7E7EA"/>
                </a:solidFill>
                <a:latin typeface="Microsoft JhengHei"/>
                <a:ea typeface="Microsoft JhengHei"/>
                <a:cs typeface="Microsoft JhengHei"/>
              </a:rPr>
              <a:t>再由人類依證據決策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F7FDF-241A-4484-AB37-37C8C459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1695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B57D3-BFCF-402E-B6EA-A682F003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91025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Infographic Edition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FCB45-0208-46EE-9699-EC70C24A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國立清華大學 數理教育研究所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吳智鴻教授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CD8A74-DC71-4C23-8E8B-E1D87FF0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rPr>
              <a:t>Teaching + Research Game · v1.2.0</a:t>
            </a:r>
          </a:p>
        </p:txBody>
      </p:sp>
    </p:spTree>
    <p:extLst>
      <p:ext uri="{BB962C8B-B14F-4D97-AF65-F5344CB8AC3E}">
        <p14:creationId xmlns:p14="http://schemas.microsoft.com/office/powerpoint/2010/main" val="15863210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D33FCE-A12F-462E-AE9E-E0227E7B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754B1-0A24-42C1-8116-CAF052B5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00E39-45C6-4651-B59E-645CBB68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30秒看懂：這個Skill做什麼？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88881-BF65-4FF9-B6FD-D71B1268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Artificial Intelligence（AI）負責擴大選項；人類保留選擇權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9B9E2-DD0F-4267-80D9-97A9A491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0375"/>
            <a:ext cx="100012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0">
            <a:solidFill>
              <a:srgbClr val="0D879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84AC3-F632-43EC-83DB-B11005CB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00375"/>
            <a:ext cx="100012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0">
            <a:solidFill>
              <a:srgbClr val="E3A5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1CBC5-5B41-4B14-A883-01EE5464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0375"/>
            <a:ext cx="100012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0">
            <a:solidFill>
              <a:srgbClr val="E260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49EC7-1C3A-4696-A2A6-9D433A09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F87F7-6186-4880-8916-75EF99DF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52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B7FB3-CD2E-4151-BE34-5E2760C4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9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D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FEFEE-95FE-48A5-81E9-D3C1CD1E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C2A39B-E068-4BCD-B771-EC1920D4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563A60-8C87-453D-9620-9A055D70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66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B7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34A8C-7984-464D-A2ED-916BB29E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86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5D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9E7EB-BFBE-4B67-B37B-72B21211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598D7-E522-4CB0-8C21-77DEF25E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6–10個</a:t>
            </a:r>
          </a:p>
          <a:p xmlns:a="http://schemas.openxmlformats.org/drawingml/2006/main">
            <a:pPr algn="ctr">
              <a:defRPr sz="16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玩法候選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39E111-13DF-44B6-8465-967E5B7D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38375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6EBFB-B179-4F6E-99D3-950F7A62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5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盲評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淘汰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演化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C2017B-7E0B-4D73-94FB-E1433F5F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98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AF8BF3-C074-4EC4-B481-13FDF697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003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6B1A25-4003-4999-98D9-90A69F8D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9460B6-0B7D-4B7E-BC0D-88B2E22C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718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9E539C-11DD-4F15-9AFE-7C2A924B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527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91F62C-B73A-4F99-9991-5EDD3435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7F4D3E-605D-452D-B04A-8065E7AB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前三名＋風險＋下一測試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054686-77B5-4F73-8F9F-47A993D5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3431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18E511-E4D4-4D5C-B101-4C89A8B9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647950"/>
            <a:ext cx="78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人類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核准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92D2DC-1734-4488-A33F-A27FB800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C0E1CB-285A-4244-96A3-654AF709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核心不是『AI選冠軍』，而是『AI提供更好的決策材料』。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A4F405-87AE-4FE5-ABB6-B1C7FA33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28A3DD-6242-4586-A183-97AC05D8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028150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1E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D5C99A-61B2-49DE-A09F-A953DF35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FA917-A494-434D-8C16-B8FEDD14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F264A-5D0B-4E5F-8AC4-FEB388E8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同一套流程，三種使用模式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A7D8B-7860-4CD6-AF17-B33E0F3F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D0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B7D0D8"/>
                </a:solidFill>
                <a:latin typeface="Microsoft JhengHei"/>
                <a:ea typeface="Microsoft JhengHei"/>
                <a:cs typeface="Microsoft JhengHei"/>
              </a:rPr>
              <a:t>依目的加上不同的證據與停止條件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896AF-C101-49AE-BBF0-2AAA6CBB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95400"/>
            <a:ext cx="40767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F62"/>
          </a:solidFill>
          <a:ln xmlns:a="http://schemas.openxmlformats.org/drawingml/2006/main" w="9525">
            <a:solidFill>
              <a:srgbClr val="163F6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75DE4-02E6-4324-9365-682AF939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12E6E-8BE5-46F6-87D6-D472741E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EE75C-7265-4DEB-9F46-E68E378F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3181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E8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D9E8EB"/>
                </a:solidFill>
                <a:latin typeface="Microsoft JhengHei"/>
                <a:ea typeface="Microsoft JhengHei"/>
                <a:cs typeface="Microsoft JhengHei"/>
              </a:rPr>
              <a:t>做出可測的</a:t>
            </a:r>
          </a:p>
          <a:p xmlns:a="http://schemas.openxmlformats.org/drawingml/2006/main">
            <a:pPr algn="l">
              <a:defRPr sz="1800" b="1">
                <a:solidFill>
                  <a:srgbClr val="D9E8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D9E8EB"/>
                </a:solidFill>
                <a:latin typeface="Microsoft JhengHei"/>
                <a:ea typeface="Microsoft JhengHei"/>
                <a:cs typeface="Microsoft JhengHei"/>
              </a:rPr>
              <a:t>垂直切片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9790E-7F74-4D60-894E-873C1BEB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312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1DDB0-F255-4B98-B016-B62DB1F8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排名 → 視覺 → 原型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7F1FA-9EEE-4BCA-9274-BFC10C03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95400"/>
            <a:ext cx="40767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470"/>
          </a:solidFill>
          <a:ln xmlns:a="http://schemas.openxmlformats.org/drawingml/2006/main" w="9525">
            <a:solidFill>
              <a:srgbClr val="0B647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92076-FEE3-4897-B2BA-11043BE2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811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DB225B-6FE6-49E5-9CE5-73E97653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050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Teaching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06F76-53C4-42BF-8062-1176451E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0375"/>
            <a:ext cx="3181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E8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D9E8EB"/>
                </a:solidFill>
                <a:latin typeface="Microsoft JhengHei"/>
                <a:ea typeface="Microsoft JhengHei"/>
                <a:cs typeface="Microsoft JhengHei"/>
              </a:rPr>
              <a:t>把AI決策變成</a:t>
            </a:r>
          </a:p>
          <a:p xmlns:a="http://schemas.openxmlformats.org/drawingml/2006/main">
            <a:pPr algn="l">
              <a:defRPr sz="1800" b="1">
                <a:solidFill>
                  <a:srgbClr val="D9E8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D9E8EB"/>
                </a:solidFill>
                <a:latin typeface="Microsoft JhengHei"/>
                <a:ea typeface="Microsoft JhengHei"/>
                <a:cs typeface="Microsoft JhengHei"/>
              </a:rPr>
              <a:t>可討論課程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610BC-6431-459E-965C-29ACFC36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71950"/>
            <a:ext cx="312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DE4138-DDD5-4567-A8EB-B0481C14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958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工作單 → 反思 → 評量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881BBA-0B18-410D-BD8F-6415601D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95400"/>
            <a:ext cx="40767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440"/>
          </a:solidFill>
          <a:ln xmlns:a="http://schemas.openxmlformats.org/drawingml/2006/main" w="9525">
            <a:solidFill>
              <a:srgbClr val="5B34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341FC7-C028-4522-87D3-3A657D68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811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0F015-FA82-42B4-A5FE-E14C17AB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050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Research Game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E531E7-F7B5-40BC-85AA-40C3027E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00375"/>
            <a:ext cx="3181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E8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D9E8EB"/>
                </a:solidFill>
                <a:latin typeface="Microsoft JhengHei"/>
                <a:ea typeface="Microsoft JhengHei"/>
                <a:cs typeface="Microsoft JhengHei"/>
              </a:rPr>
              <a:t>維持效度、重現</a:t>
            </a:r>
          </a:p>
          <a:p xmlns:a="http://schemas.openxmlformats.org/drawingml/2006/main">
            <a:pPr algn="l">
              <a:defRPr sz="1800" b="1">
                <a:solidFill>
                  <a:srgbClr val="D9E8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D9E8EB"/>
                </a:solidFill>
                <a:latin typeface="Microsoft JhengHei"/>
                <a:ea typeface="Microsoft JhengHei"/>
                <a:cs typeface="Microsoft JhengHei"/>
              </a:rPr>
              <a:t>與版本凍結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8F4E7F-F173-4C25-AF14-7EA9DAC8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71950"/>
            <a:ext cx="312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73C2BC-930B-4452-9006-7938527E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958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資料 → 稽核 → 研究版本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C2ECBF-5D7F-4CF1-82E3-D88E7C27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86400"/>
            <a:ext cx="8953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0CE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74C163-72ED-483C-A5CA-3BEF10D5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76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04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704A00"/>
                </a:solidFill>
                <a:latin typeface="Microsoft JhengHei"/>
                <a:ea typeface="Microsoft JhengHei"/>
                <a:cs typeface="Microsoft JhengHei"/>
              </a:rPr>
              <a:t>COAST＝Teaching ＋ Research Game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A148A2-604F-4A64-8C02-B4841193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9C464C-2672-4AC6-B8B2-B86EAF7F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246554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103544-D607-4108-A98F-6B798BC4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DCC16-11ED-4AF5-8B78-17A3B602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F60CB-11E8-46A6-96FC-3C515181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三層架構：誰負責什麼？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6B59D-60BA-4E43-980D-F069437A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把AI、證據、人類決策與製作工具分開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57468b1bb84ecb"/>
          <a:stretch xmlns:a="http://schemas.openxmlformats.org/drawingml/2006/main"/>
        </p:blipFill>
        <p:spPr>
          <a:xfrm xmlns:a="http://schemas.openxmlformats.org/drawingml/2006/main">
            <a:off x="4000500" y="1349375"/>
            <a:ext cx="7620000" cy="4445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D7C31-9BD3-4CC2-9AD2-2415F549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AI提出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CC627-41C8-4356-B6A2-91E983BF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AI = Artificial Intelligence</a:t>
            </a:r>
          </a:p>
          <a:p xmlns:a="http://schemas.openxmlformats.org/drawingml/2006/main">
            <a:pPr algn="l">
              <a:defRPr sz="1275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多方案、盲評、演化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11372-6868-4FD5-B47C-F54CAD7C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343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0">
            <a:solidFill>
              <a:srgbClr val="0D879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6CB59-1794-47A0-9607-2D30038E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證據淘汰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EC5E0-7F8E-4B7A-A39F-4F84DA94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Hard Gates（硬性關卡）</a:t>
            </a:r>
          </a:p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G/R/D（遊戲／研究／開發）</a:t>
            </a:r>
          </a:p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Pareto（帕累托前緣）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F0850-B540-4844-AA7F-8036C612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343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0">
            <a:solidFill>
              <a:srgbClr val="326F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C44F9-AD23-4872-BA9D-45781A95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人類決定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B9D5B-5155-4E6D-B969-630EBA20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核准、修改或暫停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C769C7-619A-4F27-82A0-6A4A428F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FD1E1-FCDF-435A-9ED4-A4E33015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274049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51A802-0195-44C2-A8E9-7AA1DDD2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22E06-1C66-4671-A1BA-F0BA72CA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9BB69-CDCA-47FA-80A6-CF631136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從需求到研究版凍結：9步驟、2道門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D712B-1127-4AFB-9CF1-2B397E01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沒有核准，就不能跳到全面製作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2a96890c14dc4"/>
          <a:stretch xmlns:a="http://schemas.openxmlformats.org/drawingml/2006/main"/>
        </p:blipFill>
        <p:spPr>
          <a:xfrm xmlns:a="http://schemas.openxmlformats.org/drawingml/2006/main">
            <a:off x="1709487" y="1181100"/>
            <a:ext cx="8773026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DD365-8080-4BEB-ACFE-887C9BA3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190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50BCE-A938-4A1A-97D8-F2D6B69C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BC20F-7CAF-4A99-82F1-06CF9D54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576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A18C4-5CC5-4278-9CDD-66F82A30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528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FCCCF-652D-4222-A5A4-C47F21C9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1219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91F89-F251-489B-8077-D8F66958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玩法核准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0E7FE5-799D-494C-A344-122B608D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1219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AF1C1-D2E2-47EF-B727-F9FA8733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621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視覺核准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54226-025E-4A54-9CCB-688165B9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943600"/>
            <a:ext cx="81534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E07C02-142B-41B5-8408-4A66BF2A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038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先選玩法 → 再選視覺 → 才做垂直切片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3E1A2-87EB-4DF9-83F9-1B5D6596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94C7B5-FABB-4724-BFDF-2BCF2825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386836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7BCAA6-85E3-4209-A609-434544B9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287FF-EEF8-4C06-99E9-C7048EDA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0BB80-8122-48BA-AE68-C2D25574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候選必須真的不同，不是換皮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8D657-84D7-4870-8F31-B94D0BA1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至少在五個設計軸上產生可測差異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F6EE2-29CD-4040-934F-31BDE3DB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海岸塔防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F41FA-6320-4C0C-9D1D-B1DD4575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森林塔防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4F8323-C54F-4D79-AC3B-EAAF39A4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太空塔防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DC0E5-4F79-43FE-AB68-F1524107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562100"/>
            <a:ext cx="381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A80D1-7412-4C9E-8388-46ABAFAE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859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核心仍是</a:t>
            </a:r>
          </a:p>
          <a:p xmlns:a="http://schemas.openxmlformats.org/drawingml/2006/main">
            <a:pPr algn="l">
              <a:defRPr sz="180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放塔 → 等敵人 → 升級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7B991-1620-4698-8FB2-36C6270B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47875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rPr>
              <a:t>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45F85-FA51-4871-9FB1-071C0D1F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85925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9525">
            <a:solidFill>
              <a:srgbClr val="C9D8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50A7E-AC4F-4526-9254-9AEBAAF6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144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A3A03-4388-4C12-99B2-9A398B4D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906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F49ED-5899-416B-802B-516B4E56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3906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核心動詞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0103AD-3BC3-4F30-ADA9-58C8B786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390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排程／談判／預測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6123E2-F2FD-4E54-99AE-31DEEAE8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05075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9525">
            <a:solidFill>
              <a:srgbClr val="C9D8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78B488-B6B1-4D7F-A953-4539AA40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336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7355FC-DB3C-4A38-9B8D-7F9B737B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982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54B29-7699-4C0F-8B9E-3CA14083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09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壓力模型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73AA03-7DEA-4465-836C-690D7E11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倒數／資源／事件鏈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E4CCA8-CC01-4BFA-885F-EA356A92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24225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9525">
            <a:solidFill>
              <a:srgbClr val="C9D8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D745B1-9E5C-4309-8431-C60659B6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527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DA8"/>
          </a:solidFill>
          <a:ln xmlns:a="http://schemas.openxmlformats.org/drawingml/2006/main" w="9525">
            <a:solidFill>
              <a:srgbClr val="6D5D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9AE4D3-EACF-47C3-9871-A42FC34C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289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041AD1-C9C9-4745-A1CB-D12BA2CE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28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5D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6D5DA8"/>
                </a:solidFill>
                <a:latin typeface="Microsoft JhengHei"/>
                <a:ea typeface="Microsoft JhengHei"/>
                <a:cs typeface="Microsoft JhengHei"/>
              </a:rPr>
              <a:t>資訊模型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A6C8F3-DA2B-41C6-A6F3-554FAE00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28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公開／隱藏／逐步揭露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58CF94-6374-4031-8D6F-FFC5A5BC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43375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9525">
            <a:solidFill>
              <a:srgbClr val="C9D8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DA0F4C-8D6F-4AC4-AA8A-1833B3EF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71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0839D9-B9B6-4118-A12A-42EF0BEB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4812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787CAE-6AB4-4B11-A174-9F904CC6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48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失敗模型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259384-9CFD-4027-802F-39E713A7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48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崩潰／取捨／可恢復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479D9A-1422-484A-A44C-04A35D23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62525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9525">
            <a:solidFill>
              <a:srgbClr val="C9D8D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A1F2C2-D9BC-48EE-B280-9754FD2F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910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B78"/>
          </a:solidFill>
          <a:ln xmlns:a="http://schemas.openxmlformats.org/drawingml/2006/main" w="9525">
            <a:solidFill>
              <a:srgbClr val="4D9B7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E191E7-EA56-4B93-BA5E-3989D1FE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672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EBEAB6-B1C7-40C3-84C7-ED658780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67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rPr>
              <a:t>重玩結構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08233D-024D-47B1-A00F-E8CC8550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67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固定解／變動情境／多路徑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60E98B-F1AD-49FC-A8D4-0F916479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695950"/>
            <a:ext cx="449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B20C18-3333-4F86-81DB-8404629B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810250"/>
            <a:ext cx="396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核心循環不同，才算新候選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12D169-81F8-41A3-9F3E-FADD2963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73B506-F026-4344-AFF3-BD6DB189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979203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1E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B4A1B0-493E-4F35-B109-F55E4519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F2C80-45A0-4327-99D7-DA097AD9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DF278-902E-4240-A726-C768B811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五個盲評角色，看見五種不同風險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FD56B-E2E7-4B3B-B320-04EFDC49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D0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B7D0D8"/>
                </a:solidFill>
                <a:latin typeface="Microsoft JhengHei"/>
                <a:ea typeface="Microsoft JhengHei"/>
                <a:cs typeface="Microsoft JhengHei"/>
              </a:rPr>
              <a:t>同一個答案不能自己當裁判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F13B7-1A55-4F3B-B670-6CAECB7A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257300"/>
            <a:ext cx="7543800" cy="4686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4717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59655-32D7-4EC1-A652-2C7718B6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4AA14-0338-40FD-BA75-8F743593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6230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rPr>
              <a:t>候選</a:t>
            </a:r>
          </a:p>
          <a:p xmlns:a="http://schemas.openxmlformats.org/drawingml/2006/main">
            <a:pPr algn="ctr">
              <a:defRPr sz="2100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rPr>
              <a:t>玩法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96415-C483-43A8-B0E4-B4627365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3906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4E58D-8BB0-4811-A8E9-E5071C03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7640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遊戲設計師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D91AE-32AD-432E-9443-AD08BE48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622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9DD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C9DDE2"/>
                </a:solidFill>
                <a:latin typeface="Microsoft JhengHei"/>
                <a:ea typeface="Microsoft JhengHei"/>
                <a:cs typeface="Microsoft JhengHei"/>
              </a:rPr>
              <a:t>有選擇與張力？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0EC29-1BC7-4B00-8202-AB94C9E2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9C8DA-A454-4393-8F90-F79A433C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第一次玩家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AD607-C2C0-4C49-8BF1-9AFB87BA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385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9DD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C9DDE2"/>
                </a:solidFill>
                <a:latin typeface="Microsoft JhengHei"/>
                <a:ea typeface="Microsoft JhengHei"/>
                <a:cs typeface="Microsoft JhengHei"/>
              </a:rPr>
              <a:t>看得懂嗎？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ACB7EB-2C24-4B1A-B1F8-FDD4982C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957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B7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C74962-54A1-4FC9-A4B2-7DDF5000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8150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領域專家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F1182-84DF-4F64-9636-DED6314A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4673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9DD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C9DDE2"/>
                </a:solidFill>
                <a:latin typeface="Microsoft JhengHei"/>
                <a:ea typeface="Microsoft JhengHei"/>
                <a:cs typeface="Microsoft JhengHei"/>
              </a:rPr>
              <a:t>內容正確嗎？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58779-A084-4A8D-9077-A479BDC1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957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D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1932DE-FA39-428B-8F15-1D8848CB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8150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研究審查者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26205C-8C10-4C82-9686-896368A7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673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9DD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C9DDE2"/>
                </a:solidFill>
                <a:latin typeface="Microsoft JhengHei"/>
                <a:ea typeface="Microsoft JhengHei"/>
                <a:cs typeface="Microsoft JhengHei"/>
              </a:rPr>
              <a:t>測到正確構念？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2263DD-4A6D-4935-811F-941D8632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669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25A94E-9D6B-4D22-95A0-FC78AFEC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5270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製作負責人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01F853-87CE-4B04-87C2-9A7557C5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385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9DD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C9DDE2"/>
                </a:solidFill>
                <a:latin typeface="Microsoft JhengHei"/>
                <a:ea typeface="Microsoft JhengHei"/>
                <a:cs typeface="Microsoft JhengHei"/>
              </a:rPr>
              <a:t>做得完、測得到？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8AA320-DCBA-433C-AE55-0F1BBA85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579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rPr>
              <a:t>各自評分 → 不互相改答案 → 最後才合併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0A5ADD-A9F2-4B15-ACFF-5B215509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D88C6E-0A8F-44BD-B291-2D708812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413419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30DD37-224E-4AB9-94C9-091E417E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399D7-6C94-4057-A276-66EF95D3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A3FEB-35CB-4AA3-939C-3FA91722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演化迴圈：每一代都要留下理由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B4BE8-3813-4325-A62A-4D4096C9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改了什麼？為什麼？下一步測什麼？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4fa2753ba4807"/>
          <a:stretch xmlns:a="http://schemas.openxmlformats.org/drawingml/2006/main"/>
        </p:blipFill>
        <p:spPr>
          <a:xfrm xmlns:a="http://schemas.openxmlformats.org/drawingml/2006/main">
            <a:off x="553954" y="1276350"/>
            <a:ext cx="6893092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4FF91-9311-4C58-B569-DDD63552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33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B6509-3857-46E4-99A9-636D025E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478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04AB3-F387-4904-9A5D-BB35CF62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525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保留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304A7-9772-41EB-AFB5-BACF80DF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478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已通過的機制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0DCD94-3022-481F-B6B0-61C04123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14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A85F2-0246-4E82-ADEF-9EB652BC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288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2F217-D56C-489E-A8FC-54DB9359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簡化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44340A-262E-4C58-936E-7007D7A9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288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降低負荷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0DF706-5A48-4465-985A-DB8AAC0B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5BADA-9557-4A34-973A-A2787108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099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F0DB35-19C7-4437-8847-BB829216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14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突變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55F5D-F3C1-45EC-A190-5F28B7EF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099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一次只改一項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90BD5-2874-4BB7-BABD-5417A6EB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64B1A3-9FC1-4D15-A00B-E60175A6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909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CE6F72-7284-4407-9BD0-B692F980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95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重組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2C99B7-4E58-42AE-A983-959BA45C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909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合併相容優點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E33C39-5D45-447B-A855-74DBD626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57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6A54F-EBE4-43A9-A139-A86A1CCA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720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FA1F0D-8698-4CD9-BC01-7C54498D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專化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3B4CA-C581-479F-A7B4-505C907C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720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只放在適合關卡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4998EF-52CE-40CB-BA08-254814F4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38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F91DA6-940E-4203-A215-043CA932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530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DDB9E5-811A-43EF-9E8C-8A3EE154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57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退役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D091CE-01C4-47CE-B324-FBC6F10E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530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停止高風險機制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AFA5C8-8268-474E-A8DD-9EEEB7F5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0AE417-C343-48E6-A8F8-B740100B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399745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6B9A8C-3745-4E40-8259-E09C901F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BBDCD-EE78-4870-9EE7-2523F9D9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9A4CA-F84E-4FCC-8348-51B53E95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先過Hard Gates，再比較G／R／D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C1B8E-BDE2-4EC5-B69B-1CC1CF71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不可接受的缺陷，不能被平均分補償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4A93D-EF20-4328-AB2E-EFB20ACE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28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CB35C-B837-45C3-B941-95D89DFF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428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051B9-159E-4D97-929E-99F3FC47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428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DA8"/>
          </a:solidFill>
          <a:ln xmlns:a="http://schemas.openxmlformats.org/drawingml/2006/main" w="9525">
            <a:solidFill>
              <a:srgbClr val="6D5D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5C5C4-2B27-4179-BA4F-F05F091F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428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80598-EE0B-4E7A-808F-545D36EF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28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B78"/>
          </a:solidFill>
          <a:ln xmlns:a="http://schemas.openxmlformats.org/drawingml/2006/main" w="9525">
            <a:solidFill>
              <a:srgbClr val="4D9B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1638FB-80B2-44D6-9AFE-120D2478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安全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157B1-D596-4567-8059-2AB51B24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002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倫理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F871B7-DA3C-45FD-B5A5-9E9CE5BD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002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效度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15D2E-DD04-41E9-B185-B15E1245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成本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D922BB-DC72-4513-8E3E-21A4E28D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可驗證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5E5972-D507-4944-9244-2E172725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33600"/>
            <a:ext cx="2476500" cy="514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0">
            <a:solidFill>
              <a:srgbClr val="E3A5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B63747-582B-4768-BEBE-BA8127DB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4857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9323EB-DD35-48C3-AA2D-C8B03148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HARD GATES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148E1C-BFD0-47D0-A5E4-2DB43B28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05125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D8E8E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8E8EA"/>
                </a:solidFill>
                <a:latin typeface="Microsoft JhengHei"/>
                <a:ea typeface="Microsoft JhengHei"/>
                <a:cs typeface="Microsoft JhengHei"/>
              </a:rPr>
              <a:t>安全｜倫理｜效度｜成本｜可驗證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F4A4E9-89BD-420E-A0EB-A9345E5F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失敗 → 淘汰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EAD753-ECA7-4927-A3CE-74A6133A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29000"/>
            <a:ext cx="1428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0">
            <a:solidFill>
              <a:srgbClr val="0D879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5AC85C-DDD4-402A-99D4-7AEC351A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481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通過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A1E8EA-9965-461B-9EF2-D3F6E33E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1123950" cy="32956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887784-DFC8-440F-B495-C1D94192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669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B99A82-14C0-4DF4-A19D-54BB8E54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F36DD7-EC3D-4E33-96C3-0E4D0C4E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Game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6884DB-0E6B-4AE2-B3C7-D20B18BD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9095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≥75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A18C0C-1641-42A2-A7D8-D43EE903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1123950" cy="32956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49ED28-FE76-4F56-9C17-EDDB9A4D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669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31F175-E004-4836-8984-3C18A86B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193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604824-9DC8-43BA-8CAE-6F20DB4C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Research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ABD479-7C84-482C-AC24-B624C396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9095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≥85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D4F3DD-2B69-4A42-BDFE-6E188697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0"/>
            <a:ext cx="1123950" cy="32956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9B7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7211DE-B6A6-4FB4-A142-2A2B606C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8669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B78"/>
          </a:solidFill>
          <a:ln xmlns:a="http://schemas.openxmlformats.org/drawingml/2006/main" w="9525">
            <a:solidFill>
              <a:srgbClr val="4D9B7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A70143-E4AE-4572-8CA1-BD939B15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0193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1E7498-449F-4BF8-A67C-0E0C52C4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8130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rPr>
              <a:t>Develop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2D1391-6593-416B-8923-52590BA8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9095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≥75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81F51C-C2C1-4F56-B349-8F3120C9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57800"/>
            <a:ext cx="5295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0CE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2AFC18-7C30-446C-81FE-F2250FF9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67350"/>
            <a:ext cx="483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04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704A00"/>
                </a:solidFill>
                <a:latin typeface="Microsoft JhengHei"/>
                <a:ea typeface="Microsoft JhengHei"/>
                <a:cs typeface="Microsoft JhengHei"/>
              </a:rPr>
              <a:t>Pareto前緣 → 最低維度 → 平均 → 成本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5B1D2C-A455-433A-874E-2088F5CC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9F7C06-C2B3-4486-89A1-8F33CC5D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084563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C629A-B248-465C-9662-8D214A16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58344-D5C3-47BE-8904-BCEB636C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674B7-14CD-4D4E-849C-47240DD3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證據階梯：排名可以先有，信心必須逐步提高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2B130-7064-4D84-A9B0-A5DAC05F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AI預評不是玩家實證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4bdaba0384a3a"/>
          <a:stretch xmlns:a="http://schemas.openxmlformats.org/drawingml/2006/main"/>
        </p:blipFill>
        <p:spPr>
          <a:xfrm xmlns:a="http://schemas.openxmlformats.org/drawingml/2006/main">
            <a:off x="681404" y="1143000"/>
            <a:ext cx="8543192" cy="5048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39940-B61B-43A5-91AD-F5E22FC7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228600" cy="4381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0">
            <a:solidFill>
              <a:srgbClr val="0D879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D7BAD-43C8-41EA-B620-EF96BF5C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619250"/>
            <a:ext cx="647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證據強度 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0D26A-8821-490B-B571-704DA1CB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24000"/>
            <a:ext cx="22669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1393F-9827-40A6-9865-C7D66CEC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52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rPr>
              <a:t>AI-only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DD5AA-6948-4470-A6E8-7526586F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信心上限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＝ 中等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09A3A-6CD7-4E57-879B-B88D55F2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257550"/>
            <a:ext cx="666750" cy="952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0">
            <a:solidFill>
              <a:srgbClr val="E3A5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CACDC5-208E-4348-9369-C94AC4A2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22669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3A48D-C5E8-44A5-83D1-35586851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67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玩家證據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0EA28-79DC-45A8-A8AD-6A9DE2B2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4350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樣本＋任務＋方法</a:t>
            </a:r>
          </a:p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才能支持限定主張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C5D64-B1F6-498B-98AB-4E1F13FA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E8E69-2380-4B8D-90FC-4841872A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722320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ADF4DC-BDB2-447C-AEDA-3EBE2871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03CE2-94AC-4405-8831-B6F45C66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5FC97-E8E8-4BF2-BA6E-FCFE7B01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教育獎勵函數：好玩是手段，學習才是目標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558BB-EC0D-4ABB-85A6-AFA9B3C2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Educational Reward Function；正向價值 − 猜答與認知負荷風險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307ff13ce4bc4"/>
          <a:stretch xmlns:a="http://schemas.openxmlformats.org/drawingml/2006/main"/>
        </p:blipFill>
        <p:spPr>
          <a:xfrm xmlns:a="http://schemas.openxmlformats.org/drawingml/2006/main">
            <a:off x="1746250" y="1123950"/>
            <a:ext cx="8699500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66897-DA84-4267-9261-E5221593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0150"/>
            <a:ext cx="17335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5F88F-21D9-4F93-B629-4329A28A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47775"/>
            <a:ext cx="1581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＋ 正向學習價值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3B668-6CB4-48D3-9BB1-95C19106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200150"/>
            <a:ext cx="1466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9E479-E455-431C-8BC0-D588C405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24777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− 風險懲罰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A3311-3522-4AFB-9E1A-7D49DEE0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219200"/>
            <a:ext cx="2571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51E2B"/>
          </a:solidFill>
          <a:ln xmlns:a="http://schemas.openxmlformats.org/drawingml/2006/main" w="9525">
            <a:solidFill>
              <a:srgbClr val="051E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B472D-479B-456D-9055-BA924E1B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3716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rPr>
              <a:t>R_edu ≠ 正式成效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F8EAA-30B7-4763-A826-A8170BC4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954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不能取代CADS或後測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6F6AE-99CC-42C1-8725-312E3FE1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0018A-922C-4332-B77D-4CB9AC31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814139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F9889D-2A1C-43D7-B204-D3817AFC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A88E2-A796-4F16-8A55-EF24882F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2A38E-64B2-4F2A-BFA9-D93E8272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先把 R_edu 看成一把透明尺，不是 AI 魔法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2DBA7-EECA-4C41-B25F-2F4C8A80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它把『想促進的學習價值』與『需要防止的風險』放在同一張可檢查的表上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A4813-0081-4418-8A62-03EA2C04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6858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5B5BB-597C-4BE2-BE5C-0B79E77E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rPr>
              <a:t>R_edu =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5B33C-D2AA-421E-A2A3-EC8942F6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192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正向價值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3116B-7528-4838-A8DB-8CB13FFD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573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rPr>
              <a:t>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0FF8F-3938-448F-A3F6-D3FC1277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6192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風險懲罰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8ED9D-E36A-45B6-92A0-59CF8AB9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622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w = 優先順序　｜　p = 懲罰嚴重度　｜　所有分數 0–100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CE32F-4591-4A94-8297-3D59BEA9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582DAA-F0AA-422C-9056-8AC9BCFE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6290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88C39-C1AE-467A-8329-B41772BF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Learning</a:t>
            </a:r>
          </a:p>
          <a:p xmlns:a="http://schemas.openxmlformats.org/drawingml/2006/main">
            <a:pPr algn="ctr">
              <a:defRPr sz="120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學習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6C6B6-01E5-4E51-98E2-C3FC966C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290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EED70-A4D9-455E-8204-429EDEF0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6290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575316-F01A-47EF-958D-D8DEEEFD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0530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Engagement</a:t>
            </a:r>
          </a:p>
          <a:p xmlns:a="http://schemas.openxmlformats.org/drawingml/2006/main">
            <a:pPr algn="ctr">
              <a:defRPr sz="120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投入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AC5933-FEC6-40CB-933D-ADF65BB3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4290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D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4C228B-D503-4EFF-9AF9-3121C4E5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6290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E14E3D-4A8A-4533-8E78-07DF477F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0530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D5D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D5DA8"/>
                </a:solidFill>
                <a:latin typeface="Microsoft JhengHei"/>
                <a:ea typeface="Microsoft JhengHei"/>
                <a:cs typeface="Microsoft JhengHei"/>
              </a:rPr>
              <a:t>Motivation</a:t>
            </a:r>
          </a:p>
          <a:p xmlns:a="http://schemas.openxmlformats.org/drawingml/2006/main">
            <a:pPr algn="ctr">
              <a:defRPr sz="1200" b="1">
                <a:solidFill>
                  <a:srgbClr val="6D5D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D5DA8"/>
                </a:solidFill>
                <a:latin typeface="Microsoft JhengHei"/>
                <a:ea typeface="Microsoft JhengHei"/>
                <a:cs typeface="Microsoft JhengHei"/>
              </a:rPr>
              <a:t>動機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3F362D-1899-4A88-8021-9E5A91E6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290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B7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CB9E2D-7B51-49E2-9285-7AA09E7A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6290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61AED2-BA85-415D-A820-43BBC923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0530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rPr>
              <a:t>Appropriate</a:t>
            </a:r>
          </a:p>
          <a:p xmlns:a="http://schemas.openxmlformats.org/drawingml/2006/main">
            <a:pPr algn="ctr">
              <a:defRPr sz="1200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rPr>
              <a:t>Challenge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A804AD-1C9F-4271-BD4A-12F753F8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先加上希望遊戲帶來的價值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BF1D39-0DF5-47F5-949B-9359E606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290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C7D503-383A-455D-A4B2-24CC9238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6290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AA986C-3FE2-4809-8A0B-3613C80B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Guessing</a:t>
            </a:r>
          </a:p>
          <a:p xmlns:a="http://schemas.openxmlformats.org/drawingml/2006/main">
            <a:pPr algn="ctr">
              <a:defRPr sz="120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猜答／鑽漏洞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0E12F3-F465-47A6-ACC9-6D36F985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4290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0D1880-0FF4-4750-B2FB-8D66E3F9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6290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D236BA-6358-4BE7-92DD-7CF52AF3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0530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rPr>
              <a:t>Cognitive Load</a:t>
            </a:r>
          </a:p>
          <a:p xmlns:a="http://schemas.openxmlformats.org/drawingml/2006/main">
            <a:pPr algn="ctr">
              <a:defRPr sz="1200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rPr>
              <a:t>認知負荷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8D00BA-8EDF-4DF6-A59E-2F38067A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054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再扣除可能破壞學習的風險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980F54-1872-4AFB-86BD-EFB6CCF6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52550"/>
            <a:ext cx="3733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0CE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B7471D-E2FF-4393-9989-DEF967A4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811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04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704A00"/>
                </a:solidFill>
                <a:latin typeface="Microsoft JhengHei"/>
                <a:ea typeface="Microsoft JhengHei"/>
                <a:cs typeface="Microsoft JhengHei"/>
              </a:rPr>
              <a:t>它不是正式成效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D03D60-A20F-4157-90B3-FF16FBB7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04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04A00"/>
                </a:solidFill>
                <a:latin typeface="Microsoft JhengHei"/>
                <a:ea typeface="Microsoft JhengHei"/>
                <a:cs typeface="Microsoft JhengHei"/>
              </a:rPr>
              <a:t>只是讓團隊看見取捨、</a:t>
            </a:r>
          </a:p>
          <a:p xmlns:a="http://schemas.openxmlformats.org/drawingml/2006/main">
            <a:pPr algn="ctr">
              <a:defRPr sz="1350" b="0">
                <a:solidFill>
                  <a:srgbClr val="704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704A00"/>
                </a:solidFill>
                <a:latin typeface="Microsoft JhengHei"/>
                <a:ea typeface="Microsoft JhengHei"/>
                <a:cs typeface="Microsoft JhengHei"/>
              </a:rPr>
              <a:t>決定下一個測試。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085D63-363E-4353-B600-AE57563A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8394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2B982A-9521-40F1-B3F6-ADD15FBA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9120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最後 clamp 到 0–100：分數不能因公式而超出可解釋範圍。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A69C80-4026-4570-8D68-B47633E4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F5A4FC-C403-44E7-B319-5151602F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799868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7D68A3-86A4-468F-BB41-BD00D990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79C3C-8D76-4798-AA81-2E990C40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3272D-8055-4F17-B578-DAA04E49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六個參數各在問什麼？先看證據，再填分數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FB52C-90D6-4FCB-8F64-2DD6DEEB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分數不是感覺：每一格都要對應可觀察的玩家行為或資料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35086-7EC8-4D3A-922F-780C28B3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5219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E3A6F-C26B-4ECD-84CB-2861E1AE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BED9A-65AF-4516-817A-E49F3985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7240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BBED0-F7EF-4A0A-8CBF-B8076A42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學習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3FAE4-3C3B-47D0-AA8F-45466579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28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玩家是否更能解釋概念、比較策略、修正迷思？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A5BA7-81FD-4AA2-8AF4-93D1559F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看什麼： 前／後測、策略品質、解釋內容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953CE6-7915-498F-94EC-FDAA9C1F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5219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547F1-0124-43CD-A6E0-6A88303D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D4420C-7DEA-4C51-B31C-CBDBDCDD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0956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EF81F9-0EE5-4D57-A2E2-7EAFF7B7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95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投入 Engagement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A07CEA-3973-427D-9696-30343D49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玩家是否願意完成、持續、重玩？不能只看花了多久。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6F0C4C-B9CE-4D00-ADFC-73DD1100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05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看什麼： 完成率、重玩、停留脈絡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92751F-D702-4B39-8B64-68910562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5219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5D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65788B-3DE9-45F3-9FCF-5D1BAF9C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D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D0E0D5-BBDF-4F13-BB44-3F6D6156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4672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506921-2BD6-4118-B59B-05BE255D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672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5D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6D5DA8"/>
                </a:solidFill>
                <a:latin typeface="Microsoft JhengHei"/>
                <a:ea typeface="Microsoft JhengHei"/>
                <a:cs typeface="Microsoft JhengHei"/>
              </a:rPr>
              <a:t>動機 Motivation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C7657A-7B8B-43C2-821A-534CD3A1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玩家是否感到有能力，願意再試一次、接受挑戰？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ACC037-9D3E-49C0-9458-FFD2B24F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76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看什麼： 自我效能量表、重試意願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FB651C-68CF-4483-9CE8-1054987E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52550"/>
            <a:ext cx="5219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9B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F56092-7AE9-4FEF-B3AD-8CCAD636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621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B7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BF5B01-AD5C-42CB-BF47-3EA5BE84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7240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3FF90F-F9B0-4CB2-9F6E-FB628600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24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rPr>
              <a:t>適切挑戰 Appropriate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45246A-61B7-4FB0-8022-12F70AC4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28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難度是否剛好？失敗是否可恢復，而不是卡死？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24AD07-3F8F-4624-BF41-8578492E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33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看什麼： 錯誤型態、提示依賴、挫折／無聊回報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9FB302-0240-4C28-B6E2-1EC3F4F1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5219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F7F986-434D-466F-92EE-608989F6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337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243811-9B48-49D8-A4A7-2A8BA3D0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0956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4A8FF4-26CC-46DC-8725-197994B6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95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猜答 Guessing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2FF41E-004C-4A06-86F0-B398D4E1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004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玩家能否靠亂點、抄答案、跳過思考得到獎勵？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9FC631-D4EF-4A47-9A89-3834613E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05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看什麼： 亂點、快速跳過、無理由正確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419280-B35B-4E82-A3E7-E37F2969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5219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FF5FD5-35FD-46EC-B993-FFF00431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053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435F7F-EB45-445D-9ED0-F9772255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4672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94C609-8533-4A2D-A123-F78D23AE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672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rPr>
              <a:t>認知負荷 Cognitive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0665B6-89A6-4FA2-A4BB-509F44C7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72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規則與介面是否讓玩家忙於操作，而不是思考學習目標？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4C09C5-302F-418C-9556-278B66FC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76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看什麼： 重讀指令、過多錯誤、無法說明任務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49122B-ED08-496C-A5AC-7EC74509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34050"/>
            <a:ext cx="110109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32CA04-7CC1-468F-BDD2-013DDF86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38825"/>
            <a:ext cx="1059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常見錯誤：把『玩很久』當成學得好，把『答對』當成沒有猜答。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EC3652-21BD-40DF-8145-40C14F34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507FF5-7C45-4E62-BF04-26075E96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147552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583540B-195B-410D-A5E5-12FE6DF0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084BF-2F32-4782-939D-139AA20F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DB525-1D25-4A7F-A147-D5A360BB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用一個遊戲局，實際算一次 R_edu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14640-52DF-45B7-9E54-3FD14CAF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先看玩家資料，再代入固定公式；不要讓 AI 臨場改分數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26AB2-943E-489A-B0D2-A571FCBD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50482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7869F-48D1-4D89-B216-F8DEAD0C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示意資料：一個 COAST 任務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86F15-2CD8-4DD9-AFF4-F0E4A105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AE8CA-9995-46D1-A996-9C4D9844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145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學習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17FFE-E397-45D9-AF0E-055A1529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52650"/>
            <a:ext cx="2095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9525">
            <a:solidFill>
              <a:srgbClr val="E9F0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8D103-7ECC-4C03-AFD5-91D08A4A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52650"/>
            <a:ext cx="171831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D58C3D-0DF7-4F53-83AF-1EEE0721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14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82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2DAB3-A84C-4521-9F84-AB66CC47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A86D16-1009-40B6-BFF8-E0CB74AA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717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投入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6046D8-2D55-4EDE-8E8E-D4A8B831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09850"/>
            <a:ext cx="2095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9525">
            <a:solidFill>
              <a:srgbClr val="E9F0F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52B75-92DF-48E7-98C6-08FD00DB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09850"/>
            <a:ext cx="155067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FAD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E04860-9FAF-483D-82F8-399EFE8F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74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9CE630-75BF-4F5C-A45F-1570822C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5D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6D5DA8"/>
                </a:solidFill>
                <a:latin typeface="Microsoft JhengHei"/>
                <a:ea typeface="Microsoft JhengHei"/>
                <a:cs typeface="Microsoft JhengHei"/>
              </a:rPr>
              <a:t>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C137AE-E90E-4AD7-AEE1-13F92F80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動機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C6A033-BF7A-4BB6-AA12-35B995F2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67050"/>
            <a:ext cx="2095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9525">
            <a:solidFill>
              <a:srgbClr val="E9F0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3B0240-4912-491F-B76B-13706C01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67050"/>
            <a:ext cx="142494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5DA8"/>
          </a:solidFill>
          <a:ln xmlns:a="http://schemas.openxmlformats.org/drawingml/2006/main" w="9525">
            <a:solidFill>
              <a:srgbClr val="6D5D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4CEB0A-FE4A-442D-B9FD-8D66A4C9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289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68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26E747-BB78-48A3-9400-B923A939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7F66B9-B0E9-42DE-B95B-A1080AF8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挑戰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1CE2A0-FDBD-4118-A61C-7EED5C2B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24250"/>
            <a:ext cx="2095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9525">
            <a:solidFill>
              <a:srgbClr val="E9F0F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617973-44FA-44F4-8F5F-37F85148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24250"/>
            <a:ext cx="159258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9B78"/>
          </a:solidFill>
          <a:ln xmlns:a="http://schemas.openxmlformats.org/drawingml/2006/main" w="9525">
            <a:solidFill>
              <a:srgbClr val="4D9B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428FBC-8EAA-4483-9D99-E57FA839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86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76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B77216-4918-4D4A-BDA6-E26A0727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204549-F1BD-4EEA-A037-C49DCFAA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433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猜答風險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98A055-FD76-4C47-8188-C66AD645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81450"/>
            <a:ext cx="2095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9525">
            <a:solidFill>
              <a:srgbClr val="E9F0F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18969B-20CC-438C-8AA7-DB847A9A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81450"/>
            <a:ext cx="4191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C2BE0D-517D-439E-913D-FC5A35DB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911FD9-93A8-4CE2-95D3-54BEDE8B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D4807F-C293-416C-A2F7-C05973C8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負荷風險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DD9101-83E5-4CCE-AE97-CAD48AAA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38650"/>
            <a:ext cx="2095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9525">
            <a:solidFill>
              <a:srgbClr val="E9F0F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AA7A25-1953-4A1D-883B-64911931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38650"/>
            <a:ext cx="6286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A52B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6F6D3B-23E5-413A-8D7A-EEF16C30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00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A8D1D0-40B4-4C99-B5D2-915A8C26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451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這些數字只是教學示例／AI pre-score，</a:t>
            </a:r>
          </a:p>
          <a:p xmlns:a="http://schemas.openxmlformats.org/drawingml/2006/main">
            <a:pPr algn="ctr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不是玩家研究結果。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DCE2D8-C00F-4671-9119-F7F5B010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52550"/>
            <a:ext cx="53149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A6B962-CA4E-4266-8C6D-00E57A81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240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rPr>
              <a:t>Balanced baseline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9C7D29-D0CD-47F0-8160-B0F6282F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478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wL=.40  wE=.20  wM=.15  wA=.25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pG=.15  pC=.10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C4FF7E-CA33-4BFF-9CC8-63C2B481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53149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DDF4F3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E3DC6F-0E03-4ACB-AE5C-CCFF255A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05100"/>
            <a:ext cx="478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正向價值 = .40×82 + .20×74 + .15×68 + .25×76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1B7A17-B93A-48A7-85DD-DC489BCE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= 76.8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E828B5-CDEC-48E0-BDA3-66E3AE6C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5314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E4E0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E0A199-8726-4A45-AC49-F49BAFD3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2430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懲罰 = .15×20 + .10×30 = 6.0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5047A2-9E29-42FA-B092-841C4D3A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R_edu = 76.8 − 6.0 = 70.8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DD2DCD-9E8D-44F0-888B-FDAC69A7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5314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CE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209F6D-CF01-4B2E-BB04-68D80BFB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4825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04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704A00"/>
                </a:solidFill>
                <a:latin typeface="Microsoft JhengHei"/>
                <a:ea typeface="Microsoft JhengHei"/>
                <a:cs typeface="Microsoft JhengHei"/>
              </a:rPr>
              <a:t>70.8 → revise／test range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74D0B64-F5EB-4CAD-83EE-0C4A1B64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91150"/>
            <a:ext cx="478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4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704A00"/>
                </a:solidFill>
                <a:latin typeface="Microsoft JhengHei"/>
                <a:ea typeface="Microsoft JhengHei"/>
                <a:cs typeface="Microsoft JhengHei"/>
              </a:rPr>
              <a:t>先改最弱的構念，或測最大的不確定性。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3175FF-7041-4C75-9BB6-7B288CB1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E8FFEE-6772-45A6-A2E4-972753E6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898160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2FCBC3-FD36-44A8-BB1D-82B2C4A3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D2887-A429-49EF-B0F2-A8224E24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51A88-7590-4CCA-A233-2D990D35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導入教育類遊戲：先定義學習證據，再設計好玩的循環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01900-4EEB-4597-AA07-DEF453FF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函數不是最後的排行榜；它從一開始就幫團隊把目標翻成可測行為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AC165-E4CF-409C-9043-76825134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62250"/>
            <a:ext cx="762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0">
            <a:solidFill>
              <a:srgbClr val="C9D8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63B79-BED4-403A-8706-7C94269E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62250"/>
            <a:ext cx="762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0">
            <a:solidFill>
              <a:srgbClr val="C9D8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E1055-C686-433C-97F1-D8C4B4C6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62250"/>
            <a:ext cx="762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0">
            <a:solidFill>
              <a:srgbClr val="C9D8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122E8-2415-46C3-B7A8-E079A4C6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764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978EC-BA66-4EDE-93BB-C1D2CBCB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145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828BB-ACA3-4C8B-B075-B1B86084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學習目標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130BB-13B0-4CDE-AE56-06B42EA6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2057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能比較三種海岸政策的取捨，而不是只背名詞。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36D45-0A01-4509-8294-534C8DB3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764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C1B9E-A670-4851-A083-8911641A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145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1484E-84B4-4E0C-A644-42FB933E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956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玩家行動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58FF2-8348-47AD-BAD3-CF98CC08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71850"/>
            <a:ext cx="2057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選擇 Protect／Restore／Adapt，必須說明理由。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AF588-7E9B-41E4-9A5E-FD0AEF21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764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C374D4-0331-4798-B00A-653321C6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145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E9EA0-6112-4421-A5AE-3DED32B7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956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系統回饋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738067-6D9F-43A3-A9FD-76869172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71850"/>
            <a:ext cx="2057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顯示洪水、生態、社會與成本的後果。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0803CD-D8DE-4FC8-96CF-9D2235FE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764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FC9BFB-C4A3-44E4-87CB-6A5F463C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145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A1238E-D033-4F28-8B93-6120F553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956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rPr>
              <a:t>證據與修正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E6551F-0D5B-4D53-9F53-E6C0CA6F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71850"/>
            <a:ext cx="2057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記錄策略、解釋與重試，再改一個變數。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165260-E237-4DF4-8956-72AAD280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107823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D55F6A-DA1F-4938-98AD-AE73B399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rPr>
              <a:t>R_edu 的位置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9E8173-7D00-4342-8C1B-426F782B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57750"/>
            <a:ext cx="802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它檢查玩法是否正在支持學習：例如是否有真選擇、是否能看見後果、是否出現猜答或過載。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83A12A-0C0F-4C59-B3F9-8B039C5D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57800"/>
            <a:ext cx="802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8DC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C8DCE2"/>
                </a:solidFill>
                <a:latin typeface="Microsoft JhengHei"/>
                <a:ea typeface="Microsoft JhengHei"/>
                <a:cs typeface="Microsoft JhengHei"/>
              </a:rPr>
              <a:t>正式學習成效仍要靠 CADS、前後測或其他事先定義的研究指標。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822A14-9E50-40F9-B0EA-90478FD1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2F3391-5943-430E-A87B-D51237BA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941739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51E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009E06-EB37-4C8C-8699-6E5F8ED2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F28FC-81E6-452D-AF37-0C34E53D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01284-EA03-4B6F-90FE-9416272E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AI探索，人類定義標準：好遊戲靠協作循環產生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EC50A-7277-42F2-9AEF-84D57138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D0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B7D0D8"/>
                </a:solidFill>
                <a:latin typeface="Microsoft JhengHei"/>
                <a:ea typeface="Microsoft JhengHei"/>
                <a:cs typeface="Microsoft JhengHei"/>
              </a:rPr>
              <a:t>把每一輪的輸入、分數、理由與下一個測試都留下來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28CFC-815C-44E9-B639-F3C7D763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33650"/>
            <a:ext cx="1200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C5D0"/>
          </a:solidFill>
          <a:ln xmlns:a="http://schemas.openxmlformats.org/drawingml/2006/main" w="0">
            <a:solidFill>
              <a:srgbClr val="55C5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0F547-726C-48F3-B305-5531D433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33650"/>
            <a:ext cx="1200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C5D0"/>
          </a:solidFill>
          <a:ln xmlns:a="http://schemas.openxmlformats.org/drawingml/2006/main" w="0">
            <a:solidFill>
              <a:srgbClr val="55C5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0411D-DBE8-423F-96E8-63C7A642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48100"/>
            <a:ext cx="10668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0">
            <a:solidFill>
              <a:srgbClr val="E3A5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A9E51-8FC9-4C0A-A8C1-8AA10A08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5336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63F62"/>
          </a:solidFill>
          <a:ln xmlns:a="http://schemas.openxmlformats.org/drawingml/2006/main" w="9525"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E6FE7-2949-46C8-B8C9-8607BAC1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rPr>
              <a:t>人類先鎖定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46916-2736-438A-9FEB-667D9A60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114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學習目標、玩家、硬限制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L/E/M/A 權重與 G/C 門檻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359A1-2939-4003-BA5C-743CD354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66850"/>
            <a:ext cx="25336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0B6470"/>
          </a:solidFill>
          <a:ln xmlns:a="http://schemas.openxmlformats.org/drawingml/2006/main" w="9525"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ECCA94-52DA-4C43-B556-A1AF5571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rPr>
              <a:t>AI擴大選項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2B494-4F7D-48A3-969F-3203811B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24100"/>
            <a:ext cx="2114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提出 6–10 個真不同玩法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盲評、列假設、算透明分數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A6636-F067-4058-ABB0-C72F4915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466850"/>
            <a:ext cx="25336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63F62"/>
          </a:solidFill>
          <a:ln xmlns:a="http://schemas.openxmlformats.org/drawingml/2006/main" w="9525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C69EC4-0F26-4D99-B697-46830E81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335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rPr>
              <a:t>人類作決定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B2BDBB-D1C3-49DE-936E-E289A99F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24100"/>
            <a:ext cx="2114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選、改、拒或暫停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指定最便宜的否證測試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DF742-DC7C-4DCE-88BE-EDBF57D8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100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09661A-3DEC-4A70-B4E9-3A7F5499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67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rPr>
              <a:t>下一輪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CE04F1-B434-4C02-ADC0-E0AD0301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55C5D0"/>
          </a:solidFill>
          <a:ln xmlns:a="http://schemas.openxmlformats.org/drawingml/2006/main" w="9525">
            <a:solidFill>
              <a:srgbClr val="55C5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5A4ED3-21CB-4639-82B7-D86A2832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rPr>
              <a:t>AI可以建議『怎麼改』，不能偷偷改權重、替玩家造證據，或越過人類核准。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0185D1-C62F-419F-9DB6-E1038A31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F51D1A-5E38-4514-84EF-71C3B813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872755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F52AB2-096F-41C0-A84C-74F7A5BA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6F1B9-333B-4FA6-B896-B7F78799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8D24B-2F0F-42F1-A229-69994966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一段可以照著做的協作腳本：從 brief 走到可測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BF097-8497-4309-A7FB-860D7D8B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每一步都把抽象要求變成 AI 能執行、人類能檢查的輸出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9AE17-1846-45F3-8450-FA23D4A3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1010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1D77C-726A-44E1-B552-F4979A7C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A 先對齊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BE48A-5E76-4BBF-8A2C-62564FD1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9065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人類提供：學習目標、年級、時間、設備、不可接受風險。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1D57B-1048-4876-859A-16E198F8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90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AI／共同輸出：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31C78-5E39-4CAA-9D79-53FE2AC6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9065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AI 回傳：不超過一頁的 brief 與待確認問題。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FD554-6CC2-4850-B057-851B82AF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1010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BAAC2-C213-4378-8687-EA640A9D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B 鎖定函數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2BF94-926E-4168-A53A-DA221A2F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0505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80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人類選 profile；例如 Learning-first：L/E/M/A=50/15/10/25，G=.15、C=.10。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EE3CC7-4FCE-4AE9-8DB8-381C92C1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AI／共同輸出：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7F5A1-FEF0-4F19-8370-A0C3459B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AI 回傳：每個參數的可觀察事件與計算規則。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D6E0BF-8603-4074-AA0A-949FB412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11010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5D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891B7-0A12-4FB7-B708-F26A9E5A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5D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6D5DA8"/>
                </a:solidFill>
                <a:latin typeface="Microsoft JhengHei"/>
                <a:ea typeface="Microsoft JhengHei"/>
                <a:cs typeface="Microsoft JhengHei"/>
              </a:rPr>
              <a:t>C 競賽候選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98DB68-824E-4819-BFCA-63EBF5E7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1945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人類要求核心循環真的不同，而不是換主題。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F61BB3-D017-4A7A-AA87-7693B796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19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AI／共同輸出：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9B99F8-A170-45FA-8F20-8C703949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1945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6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AI 回傳：6–10 個候選、G/R/D、L/E/M/A/G/C 假設與理由。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FF89D9-40D7-4271-BA02-5C0DC766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11010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BF1D14-B11E-4AE9-8A82-97BDF25C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D 人類選擇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1012D8-70EF-4C69-9820-4F3498B3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3385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人類看 Hard Gates、風險與證據層級，不盲從最高分。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7AA017-9678-4B0C-9DB8-801C7E9D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3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AI／共同輸出：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02DDBD-CF47-47A4-B224-94CD1364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3385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共同產出：一個候選＋一個最便宜、可推翻的 prototype test。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316BEF-FD16-4B6E-AFE2-65CD244C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11010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AF6885-E28F-4DE4-8665-622B7968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rPr>
              <a:t>E 測試迭代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1989FD-0375-44C8-8011-A03096D5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4825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人類查看玩家行為與學習證據，再決定保留、修改或退役。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BC013C-B05A-4F4F-A7B6-40B8F0F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48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AI／共同輸出：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D442FB-D5D5-4440-A4E0-AFA63415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4825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5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AI 回傳：只改一個變數的下一輪方案與變更紀錄。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204809-4AB0-4D8A-AE04-83FE27A6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12066A-9187-4DF7-930C-942BDF2F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48375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好教育遊戲 = 學習目標 ＋ 真選擇 ＋ 可見後果 ＋ 可測證據 ＋ 人類核准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2AFD5B-1BC0-421B-BECC-B1EAC647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6286A2-B06B-4963-AE7D-41A0DB22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915441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51E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7E4DB9-5FD4-4CD4-B666-901ADDC9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EF83C-15E4-4984-BAC8-7C31EA83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FAB32-EEC8-4D9D-B7C0-FA41034E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Reinforcement是循環：做決定、看結果、更新策略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FAC91-B1AF-4F8C-A43F-6E6C712C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D0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B7D0D8"/>
                </a:solidFill>
                <a:latin typeface="Microsoft JhengHei"/>
                <a:ea typeface="Microsoft JhengHei"/>
                <a:cs typeface="Microsoft JhengHei"/>
              </a:rPr>
              <a:t>State → Action → Reward → Next State → 回到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FD1EF-607C-4A4E-AAC8-E8DC759B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85950"/>
            <a:ext cx="2305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C5D0"/>
          </a:solidFill>
          <a:ln xmlns:a="http://schemas.openxmlformats.org/drawingml/2006/main" w="0">
            <a:solidFill>
              <a:srgbClr val="55C5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8BF40-ADC8-42C2-9FFF-844144A5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285750" cy="895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5C5D0"/>
          </a:solidFill>
          <a:ln xmlns:a="http://schemas.openxmlformats.org/drawingml/2006/main" w="0">
            <a:solidFill>
              <a:srgbClr val="55C5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176B7-7B1E-4425-817A-CA75DDA1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514850"/>
            <a:ext cx="230505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5C5D0"/>
          </a:solidFill>
          <a:ln xmlns:a="http://schemas.openxmlformats.org/drawingml/2006/main" w="0">
            <a:solidFill>
              <a:srgbClr val="55C5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18D11-0625-4845-A9B7-BB441298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285750" cy="8953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55C5D0"/>
          </a:solidFill>
          <a:ln xmlns:a="http://schemas.openxmlformats.org/drawingml/2006/main" w="0">
            <a:solidFill>
              <a:srgbClr val="55C5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38270-0F28-426F-AE8E-EB75EBB5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71650"/>
            <a:ext cx="37719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8485A"/>
          </a:solidFill>
          <a:ln xmlns:a="http://schemas.openxmlformats.org/drawingml/2006/main" w="9525">
            <a:solidFill>
              <a:srgbClr val="1848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BBD4B-A58A-4747-A12E-CF4690D9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1927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rPr>
              <a:t>觀察 → 行動 → 回饋 → 更新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12917-564D-46EF-BE2A-4A0E6F8E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809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326FAD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7109F-CED8-46E5-8FF9-DCFD3400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C11DAE-4302-43FC-8AFC-610A0351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當下狀態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22368-4613-45F6-9258-ECF37E37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AF4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EAF4F5"/>
                </a:solidFill>
                <a:latin typeface="Microsoft JhengHei"/>
                <a:ea typeface="Microsoft JhengHei"/>
                <a:cs typeface="Microsoft JhengHei"/>
              </a:rPr>
              <a:t>目標、限制、資訊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AD6BE1-0E6E-4EE0-8D1F-B56314D9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52550"/>
            <a:ext cx="1809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BC557-4FDF-447F-ACA6-FAE5278D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049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467CDA-601E-423D-895E-7D0C5695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288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採取行動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0AEDF3-BAB7-4999-B8BE-6887A402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AF4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EAF4F5"/>
                </a:solidFill>
                <a:latin typeface="Microsoft JhengHei"/>
                <a:ea typeface="Microsoft JhengHei"/>
                <a:cs typeface="Microsoft JhengHei"/>
              </a:rPr>
              <a:t>選一個策略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8772BA-3ED0-4C6A-9E27-FCFE2F02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1809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3A52B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0B8714-9835-4A91-AC5F-653FAC67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481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rPr>
              <a:t>REWARD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6EFDD2-A668-4875-85B1-9EF79BF1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rPr>
              <a:t>得到回饋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819EAA-FBD5-4834-8C88-50295AC1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339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rPr>
              <a:t>結果好不好？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F2BF20-9932-4C4C-858E-279E6263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809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DA838D-1DAD-4050-AC01-656EFC44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NEXT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70808B-2BC0-42A6-8AD5-404EB866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下一狀態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A51D2C-2A8D-4E38-8321-BACF3A0A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AF4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EAF4F5"/>
                </a:solidFill>
                <a:latin typeface="Microsoft JhengHei"/>
                <a:ea typeface="Microsoft JhengHei"/>
                <a:cs typeface="Microsoft JhengHei"/>
              </a:rPr>
              <a:t>環境已改變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FDA294-087E-457B-BB9E-54E46C87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241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747"/>
          </a:solidFill>
          <a:ln xmlns:a="http://schemas.openxmlformats.org/drawingml/2006/main" w="28575">
            <a:solidFill>
              <a:srgbClr val="55C5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D1DBC9-5A01-403A-AC02-575E08AB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8135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rPr>
              <a:t>POLICY</a:t>
            </a:r>
          </a:p>
          <a:p xmlns:a="http://schemas.openxmlformats.org/drawingml/2006/main">
            <a:pPr algn="ctr">
              <a:defRPr sz="225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rPr>
              <a:t>UPDATE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21562B-AEB1-46B9-BAE4-AF39BE9F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005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根據回饋調整未來的選擇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106A87-7C1C-47F6-962C-286A4090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55C5D0"/>
          </a:solidFill>
          <a:ln xmlns:a="http://schemas.openxmlformats.org/drawingml/2006/main" w="9525">
            <a:solidFill>
              <a:srgbClr val="55C5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A0E91B-65DA-4571-BFB6-5679F2A0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95950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rPr>
              <a:t>本 Skill 借用『從回饋迭代』的概念，但 R_edu 是 deterministic 診斷值；每次更新仍要經過證據與人類核准。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6B01F5-C93F-4A85-BBB3-B3F3297A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D0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B7D0D8"/>
                </a:solidFill>
                <a:latin typeface="Microsoft JhengHei"/>
                <a:ea typeface="Microsoft JhengHei"/>
                <a:cs typeface="Microsoft JhengHei"/>
              </a:rPr>
              <a:t>一般 Reinforcement Learning（RL）：Agent ↔ Environment　｜　本 Skill：設計方案 ↔ 評估證據 ↔ 人類決策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66FE97-A531-4DC6-ABA7-6176D50C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5C5F1E-C946-4166-84F7-93F5E05F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63646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F5646A-2027-427C-98CE-14D3F095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51C0B-6B99-4961-91D0-9A840787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E21E6-3F58-4AAB-B6DD-775769DA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競賽不是投票：先過關，再比較，再測試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70FEC-C077-43F5-ACFA-67FE534D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把多個想法變成可比較、可證偽的設計候選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D664B-D4C0-45CC-B57E-98BCF145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4315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0">
            <a:solidFill>
              <a:srgbClr val="C9D8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6B0DC-FDDF-4EE8-9E58-9639CF05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4315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0">
            <a:solidFill>
              <a:srgbClr val="C9D8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85C48-D3EF-4FD4-9D88-56E4E84C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4315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0">
            <a:solidFill>
              <a:srgbClr val="C9D8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5B951-5ABB-4494-A60B-BEC3A800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4315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0">
            <a:solidFill>
              <a:srgbClr val="C9D8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E11E6-9116-4F55-B7FE-F5F34E57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43150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0">
            <a:solidFill>
              <a:srgbClr val="C9D8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2D5B1-BD48-4FDA-B5AA-4C6671A9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619250" cy="18669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326FAD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E946BE-BF4C-46F2-A44A-923A90EF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F1128-FED9-4547-AAA5-88A84200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界定 brief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3BBFE-975D-4FA5-8127-9D06801A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AF4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AF4F5"/>
                </a:solidFill>
                <a:latin typeface="Microsoft JhengHei"/>
                <a:ea typeface="Microsoft JhengHei"/>
                <a:cs typeface="Microsoft JhengHei"/>
              </a:rPr>
              <a:t>目標、玩家、硬限制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79075-7316-4741-A629-26293E34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62100"/>
            <a:ext cx="1619250" cy="18669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72304-9485-41DE-9337-049EB779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526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3477CE-3080-4A2F-A6C3-E91E53A5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526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產生 6–10 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F80B6-51CE-4BA0-8EB9-759BA75A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575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AF4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AF4F5"/>
                </a:solidFill>
                <a:latin typeface="Microsoft JhengHei"/>
                <a:ea typeface="Microsoft JhengHei"/>
                <a:cs typeface="Microsoft JhengHei"/>
              </a:rPr>
              <a:t>核心循環真的不同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09DD8E-0D04-407C-92F3-B9A08D7D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1619250" cy="18669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6D5DA8"/>
          </a:solidFill>
          <a:ln xmlns:a="http://schemas.openxmlformats.org/drawingml/2006/main" w="9525">
            <a:solidFill>
              <a:srgbClr val="6D5D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B5126-04DA-4A4C-9DC5-C96ED6DD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526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4210DE-ED0F-49A0-8CB8-790F21C1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盲評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FDF8A3-8E3A-45B1-890C-61B55A9D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575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AF4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AF4F5"/>
                </a:solidFill>
                <a:latin typeface="Microsoft JhengHei"/>
                <a:ea typeface="Microsoft JhengHei"/>
                <a:cs typeface="Microsoft JhengHei"/>
              </a:rPr>
              <a:t>各種風險分開看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91E3A-1027-44D0-980C-308F1092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62100"/>
            <a:ext cx="1619250" cy="18669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02E8F2-0C23-42EC-9DB5-271437C4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26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898A7E-8292-4BC2-B2BD-4477B085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Hard Gates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85FC93-EF32-4982-ABAD-3DFAF290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AF4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AF4F5"/>
                </a:solidFill>
                <a:latin typeface="Microsoft JhengHei"/>
                <a:ea typeface="Microsoft JhengHei"/>
                <a:cs typeface="Microsoft JhengHei"/>
              </a:rPr>
              <a:t>安全、效度、成本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F4D572-4209-49CD-8D65-9348D123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62100"/>
            <a:ext cx="1619250" cy="18669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3A52B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902DD8-7833-43D5-878A-3153BB12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6B2EDA-C552-4163-B53A-CE5B15CF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rPr>
              <a:t>G／R／D</a:t>
            </a:r>
          </a:p>
          <a:p xmlns:a="http://schemas.openxmlformats.org/drawingml/2006/main">
            <a:pPr algn="ctr">
              <a:defRPr sz="1500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rPr>
              <a:t>＋ R_edu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6ACCAE-2DC1-479D-AD92-A17154AB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rPr>
              <a:t>分數後面有理由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E50BAE-DEB4-4471-9F55-F9A35B2E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562100"/>
            <a:ext cx="1619250" cy="18669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4D9B78"/>
          </a:solidFill>
          <a:ln xmlns:a="http://schemas.openxmlformats.org/drawingml/2006/main" w="9525">
            <a:solidFill>
              <a:srgbClr val="4D9B7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6404F8-72E1-433F-A770-96BAA4F2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7526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285C58-E1A7-4844-9ED8-CAD4DAEE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526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人類決策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66C77A-A3BD-4323-AAAE-AA62278E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575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AF4F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AF4F5"/>
                </a:solidFill>
                <a:latin typeface="Microsoft JhengHei"/>
                <a:ea typeface="Microsoft JhengHei"/>
                <a:cs typeface="Microsoft JhengHei"/>
              </a:rPr>
              <a:t>選、改、拒或暫停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C2D362-5544-4E3D-8F63-017C47E9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43300"/>
            <a:ext cx="16192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F1A22B-22C0-4656-8272-70C66BDC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90925"/>
            <a:ext cx="1466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先過關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34B1B3-A9E5-4B2B-9B77-0198A699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43300"/>
            <a:ext cx="16192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3A52B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9FDCD9-64E7-4C12-9464-517AADC9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90925"/>
            <a:ext cx="1466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rPr>
              <a:t>再比較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24A4F0-DE83-4189-9821-55462A5D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43300"/>
            <a:ext cx="16192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4D9B78"/>
          </a:solidFill>
          <a:ln xmlns:a="http://schemas.openxmlformats.org/drawingml/2006/main" w="9525">
            <a:solidFill>
              <a:srgbClr val="4D9B7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52C405-B325-43AB-9F7F-2D679FDE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590925"/>
            <a:ext cx="1466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再測試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73567E-E423-4962-923F-C1AC4DC5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9CF7A4-5F79-4294-BBC6-C40AB6C3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rPr>
              <a:t>排名的目的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720341-894F-4434-AF65-BFAA1912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67200"/>
            <a:ext cx="811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不是找一個看起來最高分的答案，而是找出能通過硬性關卡、值得研究、做得出來，並且知道下一步怎麼測的候選。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325D6B-E4D8-4522-9CE9-B1D61703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CE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AD1E1D-889C-4C39-83BA-5445DB53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91175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704A00"/>
                </a:solidFill>
                <a:latin typeface="Microsoft JhengHei"/>
                <a:ea typeface="Microsoft JhengHei"/>
                <a:cs typeface="Microsoft JhengHei"/>
              </a:rPr>
              <a:t>每一代都留下：改了什麼？為什麼？下一個測試能不能推翻它？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0FF8E7-5D24-470A-AFF5-8B85930E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B19D1B-8976-4DC2-9FA3-648F0D4B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283053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804A4E-977D-4120-BD91-293247B1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6FEB9-CA5A-462C-BBDC-F57C626B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AAA69-14D5-4C04-87DC-B0719A37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COAST例子：五分鐘內完成一次政策實驗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4BA26-B5B1-407A-A29E-57D7C344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看到風險 → 選政策 → 看後果 → 修正一次 → 形成學習軌跡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65f9b97494f51"/>
          <a:srcRect xmlns:a="http://schemas.openxmlformats.org/drawingml/2006/main" l="1042" t="0" r="10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28750"/>
            <a:ext cx="4476750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EDFF4-D2C3-42D6-B6F2-DA80F759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59274-F8F7-4259-8C47-B13A789C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413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海岸聚落｜政策會同時影響生態、社會與觀光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CF6037-99EC-45E0-B070-601156CA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00080-7276-4EC0-A279-92895175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401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海水上升＋侵蝕 → 看見連鎖後果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D07A8-9683-4157-AC05-237D979E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ImageGen 示意圖：先看場景，再理解政策取捨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6BB83-7294-4297-9727-8F8BB871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581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00685-88E5-4C8D-8926-B902C7CD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6859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66DD9-6FEE-4B78-99D6-B17C250D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621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1  情境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773D2-195A-4005-82A2-EB4FFC00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669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海平面上升 30 cm；社區、觀光與濕地都暴露在風險中。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02942-D279-43CB-9F7E-277509B6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81200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9525">
            <a:solidFill>
              <a:srgbClr val="C9D8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7F6F39-8090-4504-9213-DEB96E8E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33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54DA88-DA65-4E0B-8F72-059253DF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6384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EF7381-4EBC-49F8-989C-538910D8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146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2  Initial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10EEA9-9199-475F-A281-D74F93C8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194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玩家只 Protect 海灘：短期看似安全，但濕地與生計沒有被整合。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0050A6-AD90-4988-802E-B0F589AE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33700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9525">
            <a:solidFill>
              <a:srgbClr val="C9D8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A3CD45-A414-44C5-8F01-CDA46AFD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86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25FFD3-2C90-4C09-A265-A952B454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5909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7DFD3D-AA76-479B-890B-D18E9035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671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rPr>
              <a:t>3  後果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ED25C6-E04C-42A1-BA78-55D93832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719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洪水風險下降；生態功能與觀光收入出現新的取捨。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5851A9-F427-401F-ADB1-3942180A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86200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9525">
            <a:solidFill>
              <a:srgbClr val="C9D8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BCF6B3-759A-4CE3-A2B3-E3972DEB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438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AE41B5-8717-4ADF-B883-F144C92D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5434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438A0F-4FA1-4017-8488-748D06AE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196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4  Revision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9ACAE0-1DBF-4194-8597-3E80548E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244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加入 Restore 濕地＋Adapt 觀光，再檢查三個 CADS 構面。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79DB99-2C7E-4896-B68F-E5FD7243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467350"/>
            <a:ext cx="5467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C11760-98B7-4810-939B-9E9031E4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619750"/>
            <a:ext cx="508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3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結果不是只看分數：Initial → Revised 的改變就是 learning trajectory。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606EEC-0673-4FFD-95E1-F72188A0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6B9AA1-BC28-498E-B83E-4525F921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8510165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2F7367-D68E-49FE-9576-DE06C943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7BDD0-C16E-452E-AFC8-369F3AB3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0D7D7-09EB-403A-99F4-FF2B0992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COAST之外：同一套 Skill 可以移植到其他教育遊戲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D5D13-1E87-45BE-A462-4A18F789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換領域，不換核心方法：狀態 → 行動 → 後果 → 修正 → 證據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064DB-201E-4ED3-9899-C1995665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2476500" cy="3429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D9FA6-1E17-46F8-A31B-BBA54A41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B7D93-2A71-4FE2-9587-2E0EAD65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375BD-DBE5-41A2-8F26-6555B15F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716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都市熱島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1DCDD-6541-4E56-A13C-E7D6CDD9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019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C43C6-855C-4D5E-A5AB-EC3655F8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D40ED-BE7C-4F83-B9F7-93CD7272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熱風險與弱勢區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8B802-67E1-4BC8-A07E-822C729D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A5983-8150-4552-B8EB-A31D8D21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遮蔭／樹木／降溫中心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12B03C-B511-478A-97A6-CFD5E12E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FEEDBACK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AECC8-56D1-45AE-B662-7D0E4CB4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溫度、成本、公平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70EAA-917D-46B0-B9A4-EE36C75A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28750"/>
            <a:ext cx="2476500" cy="3429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98268B-2917-45C1-BE62-1A412C31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76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BBD531-DF4C-419C-8FDC-1D688269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288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9F910B-9396-458A-80B4-1841B744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716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森林火災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C3D1DF-E825-40CF-99EE-81B25689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57450"/>
            <a:ext cx="2019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DDF6AC-5190-4070-AACD-DCB7370E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24150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C028E5-BBD4-416D-B7C6-D25328F0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718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預報與聚落暴露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A04BA9-0B97-454F-8A51-1FAFD6B5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67100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BACD27-ABC9-46E4-814D-64CD512F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147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疏散／防火帶／復育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76D817-100E-4526-97FD-3CB01820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48150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FEEDBACK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49903D-4FC4-421C-BE99-A2EA54B8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958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損害、時間、社區信任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68D16D-06D6-4ED8-AA2A-DE0FF5BF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28750"/>
            <a:ext cx="2476500" cy="3429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C6905D-AE8F-4392-8054-11ABB84E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76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4D66B8-B2D2-4C95-824E-6E4A47F8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288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60BD38-44D5-4958-B9F6-B6529F76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716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rPr>
              <a:t>能源轉型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0710C2-BA0C-4030-9CAC-6CE17A03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2019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8DC4A9-4087-457F-8004-76086062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STATE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D3C2A6-8C4F-4266-9C9F-585D5E2C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718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電網需求與排放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4D94F0-99D6-4596-AAB8-449E52CC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67100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ACTION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41683C-FC13-4BFA-8446-03CDABF0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太陽能／儲能／價格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4A5910-B318-4C02-98F6-1F370251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48150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FEEDBACK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475A36-9701-4F53-B4DB-E6C5636A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958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排放、可靠度、負擔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1C6D1C-E423-4F2D-8391-05713FFA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28750"/>
            <a:ext cx="2476500" cy="3429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76285B-7A01-4A9B-A4A6-34B4528F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676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A3AE88-71CA-4DB1-9AF0-40508F8E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288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DC9625-BACE-4BC9-8773-72B90479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716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公共衛生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F0F594-0F95-447A-8E16-FED3EBCB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57450"/>
            <a:ext cx="2019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783CAF-9B70-4C1F-80C5-4C339EEC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24150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STATE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99364B-2FC3-434D-B4E3-9140F8A2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718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疫情訊號與資源差異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F263B8-DD58-47A3-A3EE-C6BFCCC0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67100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ACTION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A80F3D-422F-4323-859B-08440876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7147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疫苗／溝通／分流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C12BCF-D619-4CAA-A66D-0B3E8106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48150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FEEDBACK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A23C2C-E5FB-4AB8-A35A-CFB336AE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958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病例、信任、可近性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6067D0-3BCD-41B6-A582-279CCC66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C535F3-8761-4A8C-A1F7-F057FC93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保留不變：Hard Gates｜證據標籤｜deterministic rubric｜人類核准｜玩家測試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92586A8-88DE-42E1-8960-90E15DB2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4B83674-7C86-4411-8681-2DA00D66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5664909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DC4103-1DBB-48B8-98EE-3686DF3D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EFEE7-E8E0-47D4-9BD8-B799F66D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D0721-6B31-4D29-B1CB-E311D7E1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配套 Skill 按功能分類：每個工具只負責它擅長的事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C9480-3FD3-4194-8437-1BCFD7AC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負責決策流程；配套 Skill 負責製作、呈現與測試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4B23F-4412-4C4E-B658-A44AC1A2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C"/>
          </a:solidFill>
          <a:ln xmlns:a="http://schemas.openxmlformats.org/drawingml/2006/main" w="9525">
            <a:solidFill>
              <a:srgbClr val="F7F4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C4096-9FAD-4243-B7C2-82907D36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00200"/>
            <a:ext cx="323850" cy="323850"/>
          </a:xfrm>
          <a:prstGeom xmlns:a="http://schemas.openxmlformats.org/drawingml/2006/main" prst="ellipse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15F2F-6282-4F19-90A9-D63ED490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6764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7352C-1E67-4732-A539-B5BF6752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原型與網站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5BDF8-EA7D-4571-817B-58D872E7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sites:sites-building</a:t>
            </a:r>
          </a:p>
          <a:p xmlns:a="http://schemas.openxmlformats.org/drawingml/2006/main">
            <a:pPr algn="l">
              <a:def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sites:sites-hosting</a:t>
            </a:r>
          </a:p>
          <a:p xmlns:a="http://schemas.openxmlformats.org/drawingml/2006/main">
            <a:pPr algn="l">
              <a:def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browser:control-in-app-browser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FB53D-8B6B-4DB2-8DE4-FD1991E5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瀏覽器 prototype、發布、流程與在地化 QA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74CE3E-C016-4AE2-8D1B-32A2AA1E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47800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C"/>
          </a:solidFill>
          <a:ln xmlns:a="http://schemas.openxmlformats.org/drawingml/2006/main" w="9525">
            <a:solidFill>
              <a:srgbClr val="F7F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1F3BD-8326-45F9-9D63-0AC66F4A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00200"/>
            <a:ext cx="323850" cy="323850"/>
          </a:xfrm>
          <a:prstGeom xmlns:a="http://schemas.openxmlformats.org/drawingml/2006/main" prst="ellipse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DECB42-4AB1-425B-8E3E-6F5035A1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6764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9687C1-C16F-421A-8C17-D43C6BDD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19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視覺與圖像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6D16DA-15EE-4C59-86C1-F0C31B5C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visualize:visualize</a:t>
            </a:r>
          </a:p>
          <a:p xmlns:a="http://schemas.openxmlformats.org/drawingml/2006/main">
            <a:pPr algn="l">
              <a:def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imagegen</a:t>
            </a:r>
          </a:p>
          <a:p xmlns:a="http://schemas.openxmlformats.org/drawingml/2006/main">
            <a:pPr algn="l">
              <a:def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SVG／CSS／canvas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2601B-1B86-4CAF-9E08-A1F258F8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908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視覺方向、概念圖、sprite、互動圖形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0444B-41CF-41D1-BFFC-D06DA3D9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47800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C"/>
          </a:solidFill>
          <a:ln xmlns:a="http://schemas.openxmlformats.org/drawingml/2006/main" w="9525">
            <a:solidFill>
              <a:srgbClr val="F7F4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994DC6-6665-4B89-AB80-07A5F3BE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600200"/>
            <a:ext cx="323850" cy="323850"/>
          </a:xfrm>
          <a:prstGeom xmlns:a="http://schemas.openxmlformats.org/drawingml/2006/main" prst="ellipse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62160A-4CAF-4189-9E65-93DC1AD0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16764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BE42FA-EACC-4545-9A82-2FE11C45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動態與影片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936870-AEA2-47DE-AECA-E0418046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remotion-best-practices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CB1AFC-CE63-4B6C-B6E5-0AC666AC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新聞、後果、回顧影片；不取代互動遊戲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47C4CE-3408-4461-8730-E8C11982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86150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C"/>
          </a:solidFill>
          <a:ln xmlns:a="http://schemas.openxmlformats.org/drawingml/2006/main" w="9525">
            <a:solidFill>
              <a:srgbClr val="F7F4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ADA86C-0558-4146-ABB9-AE9DC2D8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323850" cy="323850"/>
          </a:xfrm>
          <a:prstGeom xmlns:a="http://schemas.openxmlformats.org/drawingml/2006/main" prst="ellipse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76625A-C924-4033-8772-041186D8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7147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2C8985-233A-4094-ACE9-0287759A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教學與文件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85E175-B19E-446D-92AF-9F1346FD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Presentations</a:t>
            </a:r>
          </a:p>
          <a:p xmlns:a="http://schemas.openxmlformats.org/drawingml/2006/main">
            <a:pPr algn="l">
              <a:def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documents</a:t>
            </a:r>
          </a:p>
          <a:p xmlns:a="http://schemas.openxmlformats.org/drawingml/2006/main">
            <a:pPr algn="l">
              <a:def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Google Docs／Slides／Sheets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A55482-C3B2-4AF9-8AF3-5FF1455F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教學簡報、手冊、工作表與研究資料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28AD6A-0013-4DA6-AB63-8A0D2CE5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86150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C"/>
          </a:solidFill>
          <a:ln xmlns:a="http://schemas.openxmlformats.org/drawingml/2006/main" w="9525">
            <a:solidFill>
              <a:srgbClr val="F7F4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86C2A0-1F37-4602-9AE3-1238D1B7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38550"/>
            <a:ext cx="323850" cy="323850"/>
          </a:xfrm>
          <a:prstGeom xmlns:a="http://schemas.openxmlformats.org/drawingml/2006/main" prst="ellipse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8EC582-E75B-4B27-93E8-41EE1ECE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7147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FEC18E-CF64-4C7F-B4B4-38CE17A4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57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背景音樂與音效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7206D8-9FBA-4A52-879E-565216A3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386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目前無專用音訊生成 Skill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892802-4E82-4813-AF13-8A6D0F5B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291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使用授權或使用者提供音訊；記錄來源與授權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874594-35DE-481E-A506-C0052463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D69441-2BF8-4377-9976-6F16CFF6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43575"/>
            <a:ext cx="1036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選工具前先問：它會增加可觀察證據，還是只增加裝飾？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F0E71B-FE3E-48CA-BD53-8268D08F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BFF87E-34EA-42D4-B38F-8E0B021A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90402508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8CC9BC-3329-400D-9024-5BA71216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4BC13-DAD6-428E-8CE3-2DB11205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6940D-5FE9-4F3B-B5D6-082DD3F6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配套工具的安裝連結：先判斷是否已內建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72600-D54F-47DA-84D7-377D6093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內建能力直接使用；外部工具依官方文件安裝與授權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4B46D-2ADA-4D8A-9D7F-43E74E88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518160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3F447-873E-43BF-B6AB-A56CBB12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09700"/>
            <a:ext cx="518160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7BA2A-93A5-44A8-9A77-06A93BDD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Codex Skill／Plugin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7674B-2E94-44A2-98B0-5A020AC7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46863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已內建或可由 Codex 管理的配套 Skill：</a:t>
            </a:r>
          </a:p>
          <a:p xmlns:a="http://schemas.openxmlformats.org/drawingml/2006/main">
            <a:pPr algn="l">
              <a:def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Sites、visualize、imagegen、Remotion、browser testing。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安裝／管理入口：</a:t>
            </a:r>
          </a:p>
          <a:p xmlns:a="http://schemas.openxmlformats.org/drawingml/2006/main">
            <a:pPr algn="l">
              <a:def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https://developers.openai.com/codex/skills/</a:t>
            </a:r>
          </a:p>
          <a:p xmlns:a="http://schemas.openxmlformats.org/drawingml/2006/main">
            <a:pPr algn="l">
              <a:def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https://developers.openai.com/codex/plugins/</a:t>
            </a:r>
          </a:p>
          <a:p xmlns:a="http://schemas.openxmlformats.org/drawingml/2006/main">
            <a:pPr algn="l">
              <a:def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https://github.com/openai/skills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常見流程：$skill-installer &lt;skill-name&gt; → 重啟 Codex → 驗證。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E44FF-6753-47FF-A623-CC333349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4CC5C-9E4F-41DF-A3EB-6376C09F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29200"/>
            <a:ext cx="1143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4103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26120-16A2-4875-A900-CC804A44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911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安裝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F8C51-EC5B-43EE-A652-B6DA168F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530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E4A24-9E48-400F-AB46-340961FE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29200"/>
            <a:ext cx="1143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4103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0931AE-1F01-4836-8E31-189340D0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911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重啟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0AE8A-98D4-4E0A-BF21-20097FB9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9530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0CD79C-67B8-45B2-B147-BC6B3565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029200"/>
            <a:ext cx="1143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4103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DB5383-D1B3-46F6-9F2B-440E8AAC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911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驗證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A06BE-B3D6-4B81-B9A2-14D3F3B5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5735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外部製作與學習資源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45747A-214F-43D6-9BA2-72405A57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46863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Remotion 安裝：</a:t>
            </a:r>
          </a:p>
          <a:p xmlns:a="http://schemas.openxmlformats.org/drawingml/2006/main">
            <a:pPr algn="l">
              <a:def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https://www.remotion.dev/docs/installation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SVG 標準：</a:t>
            </a:r>
          </a:p>
          <a:p xmlns:a="http://schemas.openxmlformats.org/drawingml/2006/main">
            <a:pPr algn="l">
              <a:def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https://developer.mozilla.org/en-US/docs/Web/SVG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Audio／speech：</a:t>
            </a:r>
          </a:p>
          <a:p xmlns:a="http://schemas.openxmlformats.org/drawingml/2006/main">
            <a:pPr algn="l">
              <a:def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https://developers.openai.com/api/docs/guides/audio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Reinforcement Learning 原始教材：</a:t>
            </a:r>
          </a:p>
          <a:p xmlns:a="http://schemas.openxmlformats.org/drawingml/2006/main">
            <a:pPr algn="l">
              <a:def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https://mitpress.ublish.com/book/reinforcement-learning-an-introduction-2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560F45-831B-46C4-B17D-94755864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235ED8-2A0E-470E-A99F-25EE06C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029200"/>
            <a:ext cx="1143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4103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2A4DD0-B53C-46AD-9065-CC4BD752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9911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讀官方文件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430073-9A99-4F8F-960E-5BA71777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530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9948ED-D2A1-4F1A-8A9C-B4AD2DE4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29200"/>
            <a:ext cx="1143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4103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C5C628-D97C-4ABD-A75E-A0B976CB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911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6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A66A00"/>
                </a:solidFill>
                <a:latin typeface="Microsoft JhengHei"/>
                <a:ea typeface="Microsoft JhengHei"/>
                <a:cs typeface="Microsoft JhengHei"/>
              </a:rPr>
              <a:t>確認授權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6C24F8-364C-451F-B98D-56664AC8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9530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D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12C177-284C-41AA-80A4-15F3C94D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5029200"/>
            <a:ext cx="1143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4103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A7F2B3-0158-4A75-8A64-7CEA442B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9911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5D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D5DA8"/>
                </a:solidFill>
                <a:latin typeface="Microsoft JhengHei"/>
                <a:ea typeface="Microsoft JhengHei"/>
                <a:cs typeface="Microsoft JhengHei"/>
              </a:rPr>
              <a:t>記錄來源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2C666E-C690-4309-BF96-87CDEBAA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0CE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BA25DC-F11A-419F-87F8-9B2C99C3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81675"/>
            <a:ext cx="1036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704A00"/>
                </a:solidFill>
                <a:latin typeface="Microsoft JhengHei"/>
                <a:ea typeface="Microsoft JhengHei"/>
                <a:cs typeface="Microsoft JhengHei"/>
              </a:rPr>
              <a:t>安裝連結是入口，不是證據：安裝後仍要完成 prototype、QA、授權與玩家測試。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346897-C5A1-4C3E-838E-AAB5E5B3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C037D4-30C6-4838-9E78-55528C5F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29296784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51E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30E2C7-41C4-4437-BB48-F0E68A3F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F6962-321F-4CEE-BF94-D432290C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AD9F4-096B-414A-8161-F66E9E05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競賽前先問開發者：最重視什麼？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05139-EAAC-4A2D-B741-5E83FDB1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D0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B7D0D8"/>
                </a:solidFill>
                <a:latin typeface="Microsoft JhengHei"/>
                <a:ea typeface="Microsoft JhengHei"/>
                <a:cs typeface="Microsoft JhengHei"/>
              </a:rPr>
              <a:t>權重必須在看到候選分數前鎖定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D7DEB-96D3-45EC-AA35-86320C04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28575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3B725-48CA-47CE-A635-1A212CC9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9675"/>
            <a:ext cx="270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＋ 正向價值（合計100%）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C1554-5BE6-454F-A7B7-1ED54E41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162050"/>
            <a:ext cx="20955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A14FD-3C72-497C-8D99-A25DD91E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209675"/>
            <a:ext cx="1943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− 風險懲罰（另外扣分）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5FB65-93C2-4B1A-945E-5D59CEFD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3819F-80AF-4406-A4A2-EA1C6F68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621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學習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F82F4-7D37-434C-8801-9CBB445E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1466850" cy="285750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13747"/>
          </a:solidFill>
          <a:ln xmlns:a="http://schemas.openxmlformats.org/drawingml/2006/main" w="9525">
            <a:solidFill>
              <a:srgbClr val="11374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59B0D8-5A0F-49D2-8763-48A7AFFD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1466850" cy="228600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21B49D-00F9-4025-8B89-AABC5B1B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19213A-8B62-4708-8030-C65DCB7B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4859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49D0F5-693A-403A-88FF-3A20DFAA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621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投入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ABB1CB-AF95-4DF5-AD42-07B755F8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33600"/>
            <a:ext cx="1466850" cy="285750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13747"/>
          </a:solidFill>
          <a:ln xmlns:a="http://schemas.openxmlformats.org/drawingml/2006/main" w="9525">
            <a:solidFill>
              <a:srgbClr val="1137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1209C4-203A-4E79-B359-370F6B50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48100"/>
            <a:ext cx="14668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326FAD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33B7DA-54A5-4E78-AB65-7D3070FE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625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90C35-C782-4E18-813B-F2A7B7B7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859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D5D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6D5DA8"/>
                </a:solidFill>
                <a:latin typeface="Microsoft JhengHei"/>
                <a:ea typeface="Microsoft JhengHei"/>
                <a:cs typeface="Microsoft JhengHei"/>
              </a:rPr>
              <a:t>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A8D55-F891-4581-A542-3AD9400D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621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動機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835D35-73A6-49B0-BB15-C00ADB7A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33600"/>
            <a:ext cx="1466850" cy="285750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13747"/>
          </a:solidFill>
          <a:ln xmlns:a="http://schemas.openxmlformats.org/drawingml/2006/main" w="9525">
            <a:solidFill>
              <a:srgbClr val="11374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A80753-659F-4EA2-85DE-93B8A773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33850"/>
            <a:ext cx="14668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6D5DA8"/>
          </a:solidFill>
          <a:ln xmlns:a="http://schemas.openxmlformats.org/drawingml/2006/main" w="9525">
            <a:solidFill>
              <a:srgbClr val="6D5D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87DF0C-F16C-4FF5-AD10-3D429B5F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1625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B5AED4-875D-4D8B-9DD3-0ADFB15F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859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3C64C7-5544-4EEC-953E-689CB7CF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5621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適切挑戰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C48B8E-DADF-4C04-B6E2-F581D9CE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33600"/>
            <a:ext cx="1466850" cy="285750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13747"/>
          </a:solidFill>
          <a:ln xmlns:a="http://schemas.openxmlformats.org/drawingml/2006/main" w="9525">
            <a:solidFill>
              <a:srgbClr val="11374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5EEC6D-64D7-44CD-BBA6-75C7ABC3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62350"/>
            <a:ext cx="14668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4D9B78"/>
          </a:solidFill>
          <a:ln xmlns:a="http://schemas.openxmlformats.org/drawingml/2006/main" w="9525">
            <a:solidFill>
              <a:srgbClr val="4D9B7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DEA440-6673-47DB-A5CB-B77F8C31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62550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5ED6B2-1787-49C3-BC11-F20786B6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rPr>
              <a:t>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AB62C3-5E63-4A6D-936B-7EEB5E7F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288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4E0"/>
          </a:solidFill>
          <a:ln xmlns:a="http://schemas.openxmlformats.org/drawingml/2006/main" w="28575">
            <a:solidFill>
              <a:srgbClr val="E2605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1927B6-CD43-4030-892E-C33FE2ED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955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3660EC-7BBD-4E2C-8D94-1DA54D2D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最多扣15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E92343-5371-4388-A64A-CF46F19E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052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CE"/>
          </a:solidFill>
          <a:ln xmlns:a="http://schemas.openxmlformats.org/drawingml/2006/main" w="28575">
            <a:solidFill>
              <a:srgbClr val="E3A52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5C580C-5907-49B9-A5DC-E3D5B225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719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A66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A66A00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FCBCEF-4C70-486B-90A5-40C1E17C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43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最多扣10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4468B2-67B8-4850-AFC3-06A9DE5A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10744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55C5D0"/>
          </a:solidFill>
          <a:ln xmlns:a="http://schemas.openxmlformats.org/drawingml/2006/main" w="9525">
            <a:solidFill>
              <a:srgbClr val="55C5D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2FCE36-E2FB-4CB8-BF54-0F8B0F12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00750"/>
            <a:ext cx="1032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rPr>
              <a:t>Balanced baseline：40 / 20 / 15 / 25　｜　G 15、C 10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ECAFD7-70F3-4101-A34C-DA902B84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1E359B-9460-4FE5-B76A-C154EC69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89225089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61445BF-C23D-4DDE-B15A-79DC0852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1C176-85A0-479B-9676-7572B45D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F0484-E891-4A29-A57C-9285E99E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四種權重Profile，一眼看出取捨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D49E0-41D2-4DD1-A86F-3235853B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正向權重合計100%；G／C另外扣分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3BA85-3AF0-4D29-8CE4-62193B33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B76F8-FE62-4429-82E8-C3F08C22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38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L 學習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BBF0B-60D6-418C-BA43-3B63304A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257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9E7C2-0DF9-4280-90BC-2837ED04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238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E 投入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1FD1B-479C-4D98-B733-60923A89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257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DA8"/>
          </a:solidFill>
          <a:ln xmlns:a="http://schemas.openxmlformats.org/drawingml/2006/main" w="9525">
            <a:solidFill>
              <a:srgbClr val="6D5D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E4B33-4EFC-4ECF-95BB-96D0338B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238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M 動機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AD109-3A2E-44F0-86A1-825170AE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57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B78"/>
          </a:solidFill>
          <a:ln xmlns:a="http://schemas.openxmlformats.org/drawingml/2006/main" w="9525">
            <a:solidFill>
              <a:srgbClr val="4D9B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D71398-7C78-436F-9B12-262D55A7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238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A 挑戰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C1458-FFB9-48BD-9C63-467BDC7A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257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ADDAD-B6B8-454F-BA80-0D022E4E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238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G/C 懲罰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4667BE-FD7F-466E-8720-EB56D3D2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7640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正向權重（每列合計100%）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CEA06-E661-41E0-BC67-69DE0780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764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C062E-CC7B-4B4B-823C-37C8506D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764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66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A66A00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796A8-F228-4571-9729-B541AB0E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平衡型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195871-E779-437F-B647-DC1E8F06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24050"/>
            <a:ext cx="2819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8EF100-DF3B-47AF-8D7D-1DDC5290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574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B54AE2-FF99-4BC7-89C3-3FC384C7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2405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B04379-6356-4F75-B2DE-4906D792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0574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F78CF3-03B1-4DFC-8930-B9750B51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24050"/>
            <a:ext cx="10572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A8"/>
          </a:solidFill>
          <a:ln xmlns:a="http://schemas.openxmlformats.org/drawingml/2006/main" w="9525">
            <a:solidFill>
              <a:srgbClr val="6D5D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B12325-9040-4809-9D7C-CFA02D7C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057400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543943-861D-4F3A-830C-9C1F0168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24050"/>
            <a:ext cx="1762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B78"/>
          </a:solidFill>
          <a:ln xmlns:a="http://schemas.openxmlformats.org/drawingml/2006/main" w="9525">
            <a:solidFill>
              <a:srgbClr val="4D9B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288FFF-A2C5-4DB1-9C1A-79FC8DEF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574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595DE7-6E3B-4F40-A3E5-88C48BD6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716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−15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A556C6-E0F8-4F9B-A99B-711B9A09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9716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66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A66A00"/>
                </a:solidFill>
                <a:latin typeface="Microsoft JhengHei"/>
                <a:ea typeface="Microsoft JhengHei"/>
                <a:cs typeface="Microsoft JhengHei"/>
              </a:rPr>
              <a:t>−10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9414F3-0DFA-494F-8930-9BBF805C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學習優先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911E23-D52C-44BA-9C18-21C20F3E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14650"/>
            <a:ext cx="3524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F17482-ED8E-460A-8B93-4093CD3E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48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781F32-7889-4EFD-9F6E-1EDA640A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14650"/>
            <a:ext cx="10572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73B25D-CC26-4D2D-A4EA-AEC4F718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48000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43F9EB-A1BB-42D2-AE54-682468D1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914650"/>
            <a:ext cx="704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A8"/>
          </a:solidFill>
          <a:ln xmlns:a="http://schemas.openxmlformats.org/drawingml/2006/main" w="9525">
            <a:solidFill>
              <a:srgbClr val="6D5DA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F7C627-5BB9-491D-9B46-53ED89AE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480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20C378-AC1C-4E98-8214-786C48FF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14650"/>
            <a:ext cx="1762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B78"/>
          </a:solidFill>
          <a:ln xmlns:a="http://schemas.openxmlformats.org/drawingml/2006/main" w="9525">
            <a:solidFill>
              <a:srgbClr val="4D9B7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BD0520-3380-45D5-A9DF-A2847725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25%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1D8E26-E830-449C-B3B4-57C22F9C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622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−15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A977A6-B8AF-4B03-93F6-D5ACAE9D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622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66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A66A00"/>
                </a:solidFill>
                <a:latin typeface="Microsoft JhengHei"/>
                <a:ea typeface="Microsoft JhengHei"/>
                <a:cs typeface="Microsoft JhengHei"/>
              </a:rPr>
              <a:t>−10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3963B7-AACD-4F92-8882-DB59A53C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投入優先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05D054-B9F3-4A95-A336-CE392F6D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05250"/>
            <a:ext cx="24669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393FC0-A01A-4704-A907-E5C0F5F0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038600"/>
            <a:ext cx="2371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35%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1C9DAB-1C5B-4B66-81E3-4AAF4BF8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905250"/>
            <a:ext cx="2114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75E257-2F13-4271-9222-11554A6A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3860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3B4026-19C2-43B4-A29F-FCC0CBAF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10572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A8"/>
          </a:solidFill>
          <a:ln xmlns:a="http://schemas.openxmlformats.org/drawingml/2006/main" w="9525">
            <a:solidFill>
              <a:srgbClr val="6D5DA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B6BFA4-AB0B-448F-A871-A9703599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38600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15%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3932706-E7F2-49C1-8187-47906452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B78"/>
          </a:solidFill>
          <a:ln xmlns:a="http://schemas.openxmlformats.org/drawingml/2006/main" w="9525">
            <a:solidFill>
              <a:srgbClr val="4D9B7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C53056C-8C16-4941-BB71-53244B8F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0386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E988AB-B524-4271-A83B-E8C3C217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528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−15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8F09C3-3571-4239-A551-96D958DE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528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66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A66A00"/>
                </a:solidFill>
                <a:latin typeface="Microsoft JhengHei"/>
                <a:ea typeface="Microsoft JhengHei"/>
                <a:cs typeface="Microsoft JhengHei"/>
              </a:rPr>
              <a:t>−10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8FE210-0B8F-48A1-9357-1D330BB2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易懂優先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25CDB1A-F90F-40A7-A52B-69D49903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95850"/>
            <a:ext cx="2819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450CB78-9865-45D9-83A4-C919BDCD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0292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40%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D3240A-3695-43D6-83A7-C4486C4B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895850"/>
            <a:ext cx="10572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0286CC-6F87-407E-93D6-03ED4A8C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029200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15%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479B025-1954-4511-A55F-FCF903D9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895850"/>
            <a:ext cx="10572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A8"/>
          </a:solidFill>
          <a:ln xmlns:a="http://schemas.openxmlformats.org/drawingml/2006/main" w="9525">
            <a:solidFill>
              <a:srgbClr val="6D5DA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421A55-57C2-41AA-880E-3A4071F7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29200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15%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0D503D-DD8B-4B52-8366-B364391E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95850"/>
            <a:ext cx="2114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B78"/>
          </a:solidFill>
          <a:ln xmlns:a="http://schemas.openxmlformats.org/drawingml/2006/main" w="9525">
            <a:solidFill>
              <a:srgbClr val="4D9B7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48AC882-8F99-4BD3-958F-B5AEBA00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02920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30%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CB47D29-F084-4C75-81A5-2EA6E2A8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434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−15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CFD907D-6EDF-43B7-867D-408A4387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434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66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A66A00"/>
                </a:solidFill>
                <a:latin typeface="Microsoft JhengHei"/>
                <a:ea typeface="Microsoft JhengHei"/>
                <a:cs typeface="Microsoft JhengHei"/>
              </a:rPr>
              <a:t>−20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8ACA171-45CB-4EFE-8775-DBF61B2D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B49C17F-4560-4B5F-8C18-6E826FDD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57900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Profiles是透明起點，不是跨情境通用的研究常數。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6B9906C-D773-4014-8AB2-9FF61BF6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15ED9D4-D2A9-4B8F-A31C-6E635E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5163185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134820-ACFC-4BD4-A930-E15DF5ED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A8"/>
          </a:solidFill>
          <a:ln xmlns:a="http://schemas.openxmlformats.org/drawingml/2006/main" w="9525">
            <a:solidFill>
              <a:srgbClr val="6D5D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7F55A-7AEB-4D3D-BDFD-E6E8CF59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FE0BE-5769-417A-8C79-D4F79DB8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動畫不是裝飾：每次決策都要看見因果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46711-E7C0-4195-922A-8DC52E04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原因 → 環境改變 → 人／系統影響 → 取捨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1DB32-6A00-456E-9979-FD1E8484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57450"/>
            <a:ext cx="876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0">
            <a:solidFill>
              <a:srgbClr val="C9D8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AD563-0862-4A88-8B59-BF10ECA4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57450"/>
            <a:ext cx="876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0">
            <a:solidFill>
              <a:srgbClr val="C9D8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635AC-BF86-4CCC-BCFF-6BF63FE8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57450"/>
            <a:ext cx="876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0">
            <a:solidFill>
              <a:srgbClr val="C9D8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8A1F1-F763-45F4-B949-1858F95B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780CF-5911-4F55-9CB5-D68B9918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56FEF-407A-4B86-B8BA-1DA0F2B6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政策原因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6D2D3-F4B6-443B-A66A-8B437A60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打出政策牌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DB224-55E4-42AF-B52D-03AFDE5E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716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E50F2-B378-458D-9685-4831163D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002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152673-00EB-46BD-959E-510F9F94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051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環境改變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76CAC-32F7-45BD-BB16-92B8330F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861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海岸／洪水／珊瑚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0D45F-9F31-45AE-BB9F-C5D23371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716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F443E7-B4CA-49D9-8A87-FBDE2107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02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37EC54-172C-41CA-9FC8-FD4EF4A2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051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人與系統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A4C393-3E84-4198-90E2-6B6BDD64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861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社區／觀光／生計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3EDCF9-47BF-462E-9556-F13CB3BB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716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23FCF6-B39A-466E-B6F5-15AA7108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002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EEF4C3-1BD7-476D-9A54-420D0F85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rPr>
              <a:t>取捨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64C7D0-EF4A-4DB4-B432-89B1049E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861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收益、風險與下一步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2F0C52-4125-4A31-BE48-7FD4C5FD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AD8F76-DE46-45C1-ABE0-0CEC667F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SVG / Canvas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5E8CA8-D124-45BB-A1CE-98EDF581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即時變化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422D64-1E30-4904-A2C4-7524B13C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1010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2B19F9-59C3-4FCE-AA4F-C01EB621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81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Remotion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C08D64-CDAD-49B4-9157-30350F78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62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10–25秒新聞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A580C5-AA66-4102-B9C5-AFAFBE24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1010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B78"/>
          </a:solidFill>
          <a:ln xmlns:a="http://schemas.openxmlformats.org/drawingml/2006/main" w="9525">
            <a:solidFill>
              <a:srgbClr val="4D9B7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CDD68A-3CBE-401F-B703-9B2041F8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81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rPr>
              <a:t>Audio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F968BA-33F8-40DD-ADDF-815FDBF2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62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警報與回饋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C13733-BFDD-41CC-BFAA-98F5F271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1010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A8"/>
          </a:solidFill>
          <a:ln xmlns:a="http://schemas.openxmlformats.org/drawingml/2006/main" w="9525">
            <a:solidFill>
              <a:srgbClr val="6D5DA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CE9A6A-2208-468C-BC31-56582477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781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D5D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6D5DA8"/>
                </a:solidFill>
                <a:latin typeface="Microsoft JhengHei"/>
                <a:ea typeface="Microsoft JhengHei"/>
                <a:cs typeface="Microsoft JhengHei"/>
              </a:rPr>
              <a:t>Browser QA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2B0156-DF17-47A0-B4E1-B056F25C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162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雙語與裝置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3A3E19-5CEA-40BE-A409-C59615CC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48350"/>
            <a:ext cx="883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CE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96BAD5-285C-407C-81EA-99081DFE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943600"/>
            <a:ext cx="834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4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704A00"/>
                </a:solidFill>
                <a:latin typeface="Microsoft JhengHei"/>
                <a:ea typeface="Microsoft JhengHei"/>
                <a:cs typeface="Microsoft JhengHei"/>
              </a:rPr>
              <a:t>核心互動留在遊戲；Remotion只負責新聞、後果解說與回顧。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5D9B24-4A16-42EC-9FCE-A2CD9FF6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7747D5-3A08-48CA-ACEF-633AF6D9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70783773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F8D97E-6ED6-449F-9405-C2947BB3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A8"/>
          </a:solidFill>
          <a:ln xmlns:a="http://schemas.openxmlformats.org/drawingml/2006/main" w="9525">
            <a:solidFill>
              <a:srgbClr val="6D5D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82468-7A12-4456-B695-0BD6B70D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B4064-F02C-481D-AA3A-01F0E233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90分鐘課堂：學生先判斷，再看AI答案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F9240-68E2-4FC9-BE0D-070AD9EA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評分的是證據與決策品質，不是同意AI冠軍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528F6-B54D-43D4-AEE3-AD514FC8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CA868-DFD7-4372-BDB5-0658A79A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15分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886C6-7632-4200-A115-A3A6BB58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界定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05AE4-19A1-4D5C-9BC8-77BB4687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玩家＋權重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2CA77-FBA8-49BD-8F04-E7B2BFC9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907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14A13-949D-44F4-AFD2-06DC255A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81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15分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7A90A-6636-4226-B532-6937834A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00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候選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B8D5D-CD47-46E3-B753-B2B0959C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24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學生先排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A9EB6-8C1E-4A0B-9A02-EEC341E9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907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A8"/>
          </a:solidFill>
          <a:ln xmlns:a="http://schemas.openxmlformats.org/drawingml/2006/main" w="9525">
            <a:solidFill>
              <a:srgbClr val="6D5D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52CB2-1EFE-46DF-8886-0EB339BB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981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15分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7C3263-6C09-47F3-8E7D-66BF103E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00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AI競賽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25F24-5062-4661-9310-1F3DC7A1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24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讀前三名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B7C0F6-301E-4551-9A08-59DBC3AC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790700"/>
            <a:ext cx="228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889F21-30ED-48D2-8F4D-0D5872C5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81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20分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29E091-3576-45DE-AB36-5D386976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0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差異討論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F8C33C-72BF-47C8-AF59-964E142C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24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抓推測／漏洞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F04CC2-5DA7-404F-B417-CC36F972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B78"/>
          </a:solidFill>
          <a:ln xmlns:a="http://schemas.openxmlformats.org/drawingml/2006/main" w="9525">
            <a:solidFill>
              <a:srgbClr val="4D9B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00D91A-9418-4105-991E-B7166ADC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81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15分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33282E-8CD7-4FEF-9D56-89CA2971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原型測試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E127E8-33D0-4CBE-A220-8D0D17E5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推翻假設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28FBA2-F512-4AC2-9C79-0F31F2A1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90700"/>
            <a:ext cx="114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C2D492-0C8E-430F-A2F3-46DE7920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812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10分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E5BF19-18EB-4B56-995F-E7D8D6AA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00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人類決策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121096-C6E6-482B-B2B4-48DFD9B4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7241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選／改／拒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8E363F-388D-4798-B8CB-8275F656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2EED1B-4D47-4BB5-9177-08D87267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71CDE6-9500-4D2D-93D6-C12BE31A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限制可測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0CD25C-E2F2-4A68-B5CD-B16BD4CA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2578F0-774A-4F56-84CB-D4CB235A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385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候選真不同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B01C27-CD56-44F9-BD06-ADC154E7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2EC853-9E8F-4143-9840-A279FB6C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385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證據標籤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AEDEAE-4584-41AA-8CC7-AB55B1B0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19E846-26EE-44DE-B465-4639D358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385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測試能否證偽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D1E558-BDBD-44EB-AE58-5BAAE3FE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57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0B0E6D-5123-4D23-B537-1C3129AE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385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人類理由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249F33-370E-4145-B83D-D83EE66C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10058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A60395-F9A0-4D25-A862-A7538AD9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53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課堂產出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82B936-2C1E-454B-8B61-8B2C4DF5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72050"/>
            <a:ext cx="7848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① 鎖定權重　② 三個候選　③ AI排名差異　④ 可否證測試　⑤ 人類決策備忘錄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F4AF91-BAF6-4215-99BF-3B1D35FA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D279A0-112C-4184-8C38-510F4043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41008380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51E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6CFFD7-4056-404D-BC57-66338C2C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07996-5786-4B45-8151-BF4E739C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A5057-5881-4172-97D1-75BBB31E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COAST研究骨架：玩法能變，測量不能漂移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25EFF-2F6C-4E86-8A8E-5E1C0187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D0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B7D0D8"/>
                </a:solidFill>
                <a:latin typeface="Microsoft JhengHei"/>
                <a:ea typeface="Microsoft JhengHei"/>
                <a:cs typeface="Microsoft JhengHei"/>
              </a:rPr>
              <a:t>PRE（前測）CADS → 三個海岸危機 → POST（後測）CADS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148DC-FD29-4716-9016-1E3B54EA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76600"/>
            <a:ext cx="9220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A80"/>
          </a:solidFill>
          <a:ln xmlns:a="http://schemas.openxmlformats.org/drawingml/2006/main" w="9525">
            <a:solidFill>
              <a:srgbClr val="2E6A8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02A13-9A3B-4F70-B09A-C8AD21F5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66850"/>
            <a:ext cx="13144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3A52B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586D5-24C8-4691-953E-A1E3181E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14475"/>
            <a:ext cx="1162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rPr>
              <a:t>固定測量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C7F0E-E49A-4790-93DF-31BAA26D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66850"/>
            <a:ext cx="13144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7EE5D-F898-4BB9-BE5B-79D63F9E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14475"/>
            <a:ext cx="1162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可變玩法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9F639-57ED-410B-A407-53A55920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66850"/>
            <a:ext cx="13144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3A52B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FDD54B-EC56-474F-9DE3-0622252C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514475"/>
            <a:ext cx="1162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rPr>
              <a:t>固定測量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1059C-08AA-48AC-BDE7-C5AC1F03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1314450" cy="1314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46739-1819-46AA-BE1B-A076263D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765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8C70F-DBDF-4465-8646-E9CEEEC7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新海岸A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294D79-061E-4AEF-8A8B-5C93F630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479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FBDAC-71D1-488B-9ED5-E38C3747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765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47E0F-488C-4F4A-A185-1EE6D2E3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海岸侵蝕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A8E01D-3822-47C1-A01D-3D61E8D9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479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D2F7EB-81B1-44F2-975B-0AA17215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765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1751F9-4A58-47E5-B36F-F143DF14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9575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海平面上升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與洪水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6DAFC6-F6BC-41BD-859A-1A946CEC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479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E60730-43BE-4595-AD43-09E3F838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765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5566E3-02F3-4101-9C60-E1677A28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9575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海洋熱浪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× 生計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0EC37F-DD87-4FE6-AD80-0982C6C0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47950"/>
            <a:ext cx="1314450" cy="1314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14F767-2B3E-48F0-A16B-16A8A0FB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765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POST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11D3F8-610E-4EAC-AB55-A4F310B3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9575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新海岸B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FB665F-DF35-4640-81DA-6B21AF35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57800"/>
            <a:ext cx="7429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3D4F"/>
          </a:solidFill>
          <a:ln xmlns:a="http://schemas.openxmlformats.org/drawingml/2006/main" w="9525">
            <a:solidFill>
              <a:srgbClr val="2E6A8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96684E-D5E1-4683-896A-5F2A27C3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29250"/>
            <a:ext cx="697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CADS＝40% Climate Resilience ＋ 30% Coastal Society ＋ 30% Integrated 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1D48FD-7CC9-43C6-8169-EDE27B9F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115050"/>
            <a:ext cx="3524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881AEB-BF7B-482D-B622-F75A0F6E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6172200"/>
            <a:ext cx="3371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R_edu只診斷玩法，不取代CADS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B44909-1789-4869-B272-C88E8433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38CF49-52F2-44A5-9B11-3CCE01A4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01171699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671066E-6E4C-48A5-A0A1-EAEE676E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24529-B6B0-4E4B-A141-2D6DB4D8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F297B-BFA4-4318-80BE-7E59268C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COAST候選榜：分數後面一定要有『下一測試』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B8143-5B26-4DB0-8D81-723055D9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AI預評只能排隊，不能宣布已證明最好玩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CD409-DD40-4F17-9722-5DD6D58D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排名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5A02D-2780-4604-B1B2-5D171780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162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候選玩法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CDAFC-058E-4AB0-956F-BF1D5D9D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62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G／R／D 預評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82E5D-28ED-4BE1-963B-B6F13304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162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下一個可否證測試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FA3B3-C7DD-44D5-9491-A2D5E7DE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F48B1-985D-4762-9F32-1A4C2728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11235-76A6-4890-9E2B-B9C91455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581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危機連鎖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AAA80-A72A-44E6-B1FB-B87385E2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859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BC4A6-D4F3-442E-8443-F3D4D1D4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43050"/>
            <a:ext cx="914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9525">
            <a:solidFill>
              <a:srgbClr val="E9F0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7FD991-5F36-445D-B711-EE13AB34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43050"/>
            <a:ext cx="804672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FAD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EFCB4A-ED47-4298-BE9C-4F668B0C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4763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88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AB4FF3-7770-4C5B-A87D-97896DCE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859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10AA2E-1796-467D-A6E3-BF8BF849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43050"/>
            <a:ext cx="914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9525">
            <a:solidFill>
              <a:srgbClr val="E9F0F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725FFA-6EED-462A-B1F3-38C6CE04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43050"/>
            <a:ext cx="841248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093E56-420F-4088-ABB4-6FAE7C83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4763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92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E8C97A-4FC0-40DC-AC0B-256ABE6B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859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rPr>
              <a:t>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AD5C2E-7F3D-4BCF-B6B0-0F213298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43050"/>
            <a:ext cx="914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9525">
            <a:solidFill>
              <a:srgbClr val="E9F0F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FF10CB-8680-47F4-A27B-58AF1D99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43050"/>
            <a:ext cx="768096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9B78"/>
          </a:solidFill>
          <a:ln xmlns:a="http://schemas.openxmlformats.org/drawingml/2006/main" w="9525">
            <a:solidFill>
              <a:srgbClr val="4D9B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6476D2-4AA1-436B-8781-0D1BB79C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763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84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BD0C4F-2696-45F5-B337-611CC0C3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1930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9525">
            <a:solidFill>
              <a:srgbClr val="C9D8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933309-686F-4E0F-B96E-7E8D4931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09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NEXT TEST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358CBE-7400-4EED-9429-2C391FF9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71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倒數會不會壓縮閱讀？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43443B-3592-4DF6-A2E6-A9D3C06C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9EA433-707F-4206-8559-9C1EB37A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841F5F-CE42-4383-9F86-13C8E42A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新聞戰情室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D37FA7-7BCA-43B0-A733-D2077E76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765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E68251-56A8-4FC3-BA27-1BEB7B20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33700"/>
            <a:ext cx="914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9525">
            <a:solidFill>
              <a:srgbClr val="E9F0F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A0B13E-B7D6-4D8A-96E0-57992B66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33700"/>
            <a:ext cx="73152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FAD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9FA2D3-1E4B-4C60-BAC5-F6DFCC05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670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80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FFA026-5B98-40CD-BCC9-C2F44412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E8AAC1-B1D5-497B-802E-90864D2E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33700"/>
            <a:ext cx="914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9525">
            <a:solidFill>
              <a:srgbClr val="E9F0F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CA85EE-AE8A-438E-8ED5-9C2F2614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33700"/>
            <a:ext cx="86868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CEAE4C-38A1-46C6-B78B-5E6F7C1E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670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95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F72913-454F-41F6-9223-35A8C474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765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rPr>
              <a:t>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78A12F-E1DF-43E5-804E-453ADEB6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33700"/>
            <a:ext cx="914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9525">
            <a:solidFill>
              <a:srgbClr val="E9F0F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99E355-1560-4C9E-AD6B-417FA18B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33700"/>
            <a:ext cx="82296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9B78"/>
          </a:solidFill>
          <a:ln xmlns:a="http://schemas.openxmlformats.org/drawingml/2006/main" w="9525">
            <a:solidFill>
              <a:srgbClr val="4D9B7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A7891D-2A4C-4341-A27F-E857CCFF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670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90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B3710B-CCB9-4945-9B0A-27CE8FCD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099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9525">
            <a:solidFill>
              <a:srgbClr val="C9D8D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4E6DDA-6419-4CCF-BD09-481A017D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004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NEXT TEST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C938B8-D091-49E3-B3DF-FF404D9E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62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即時刺激是否不足？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55636F-9ED8-4B46-8B0A-964BF6A8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E755C7-4AE0-4BD3-A9AC-3CAFC14B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B82027-9DA8-4E49-93A3-9030C950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62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韌性海岸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741D39-08B4-4233-A2F0-BCBCD211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672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A06C5F-F896-489C-8726-02BA4B9D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24350"/>
            <a:ext cx="914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9525">
            <a:solidFill>
              <a:srgbClr val="E9F0F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2D43D37-E146-423D-AB6A-3A4FF934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24350"/>
            <a:ext cx="832104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FAD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D30DF4-0B23-4792-9DD5-F065CAFE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576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91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92F57E-71C7-4313-8500-8FDC6EF6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672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E05D29-EE36-48AB-B57E-9A5A4E85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24350"/>
            <a:ext cx="914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9525">
            <a:solidFill>
              <a:srgbClr val="E9F0F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BA7E99E-788A-4A6A-9357-C82ACF93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24350"/>
            <a:ext cx="713232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5F3B543-5527-4E7D-8C50-F7FD10DA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576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78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F0CED80-02E9-42C7-A8EB-F6EC5658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672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rPr>
              <a:t>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452AFBA-F3B3-42C1-9D73-482BE7E6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24350"/>
            <a:ext cx="914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9525">
            <a:solidFill>
              <a:srgbClr val="E9F0F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DBD0F52-406A-40FE-B0DA-06081A34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24350"/>
            <a:ext cx="694944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9B78"/>
          </a:solidFill>
          <a:ln xmlns:a="http://schemas.openxmlformats.org/drawingml/2006/main" w="9525">
            <a:solidFill>
              <a:srgbClr val="4D9B7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4C76307-C65E-4AD9-B6A6-93AAF87C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576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76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B4197EC-C6E2-4034-B952-CAD66735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0060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9525">
            <a:solidFill>
              <a:srgbClr val="C9D8D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CB59B44-BD29-4269-B4D4-BD9593A8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91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NEXT TEST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E75EF8A-0CE0-4699-BABF-C685D9D1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53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反應速度是否成為混淆？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F181DD1-173F-48B5-8C7D-BE2D1662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86EBD45-D07B-456C-BA9E-5518B8F6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57875"/>
            <a:ext cx="1036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榜單必須同時呈現：證據層級｜最大風險｜可否證測試｜人類決策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4C2ECEC-9FFC-4A13-AAB6-964D4428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E21663-82B8-42EA-BEEC-D9EC86C4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61916226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95D541-FAD2-4F1D-BEB6-06B921B5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A8"/>
          </a:solidFill>
          <a:ln xmlns:a="http://schemas.openxmlformats.org/drawingml/2006/main" w="9525">
            <a:solidFill>
              <a:srgbClr val="6D5D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CC120-9BD7-4914-A744-451DCD8D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4CF7D-82C3-4662-9F3B-240618FE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課程實施：從安裝走到人類決策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488C5-E154-45F9-A16B-E8A59921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90分鐘教學工作包；兩類任務共用同一套證據規則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F9423-5675-4D7B-AFD7-FEEEA771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課程不是看完簡報，而是留下可檢查的設計理由。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1489D-041A-431A-AD36-5F435E4C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0101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FC87B-16AC-466F-85FA-707E0C0E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66900"/>
            <a:ext cx="50101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ADC42-6694-4CB8-87F3-E315C111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0854B-11C2-40C0-B1FF-A0D41B18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1717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147E7-496A-47E5-AE7A-04A9B63A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336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可實際操作｜安裝 Skill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BBC2B-2830-4835-B98D-78274804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E545FF-2C26-468B-8AFE-63400D41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762250"/>
            <a:ext cx="1333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6923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A0F96-9ECA-4AF7-BB53-84333F48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安裝完整 game-design 資料夾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38459-E49C-46BF-8A5E-139DD796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6EA69-F7E6-4FDA-BAC8-B7E8CA2F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57550"/>
            <a:ext cx="1333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6923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90AEB-999F-4918-85A2-34244265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1945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確認 SKILL.md 的位置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77E56E-E6BC-4823-B832-9B6E4587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861FEA-519C-4CDA-9CB7-ECD0ED10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752850"/>
            <a:ext cx="1333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6923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11DB09-82CF-42D4-90A3-BD039EE7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重新載入 Codex 並驗證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5E033C-5BD3-4278-852E-5EF06B1E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31E2BD-A5B9-47C6-9A30-95E51CD0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248150"/>
            <a:ext cx="1333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6923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63801E-CF3A-4920-9ECC-3A110EED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1005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完成第一次設計 brief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C190E2-4F10-4ACD-90C5-6B76B3AA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留下：安裝路徑、驗證結果、6 個候選、前三名與下一測試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A3FF6C-3D58-4926-90AA-5095009C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95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82517D-72C3-4563-B0D1-A4742350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1717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E2DD05-2AA9-4DEB-85B5-F9D7216C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336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課程討論｜理解決策邊界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D832F7-EED8-43D4-A532-4E43B853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86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DE65F4-3427-4268-BEA6-030C7D83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762250"/>
            <a:ext cx="1333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6923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6179EB-9A29-4838-A00D-DCCB7958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50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畫出 State → Action → Reward → Next State 循環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485901-912E-4FE1-BD90-3C525FAC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B18EEF-111D-4ADD-A5C2-89C3A840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352800"/>
            <a:ext cx="1333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6923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632F32-8535-4C1A-9CD0-15582F85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解釋 L/E/M/A 權重與 G/C 風險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94C738-1D46-4364-835C-245854F0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19CE0D-6C7B-44F7-8304-ACBF2551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943350"/>
            <a:ext cx="1333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6923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03ECE1-55BB-4109-979E-E71F4759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比較 AI 排名與小組排名，提出人類決策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FDD366-C5BE-4354-B1EA-4822BA1C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76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留下：討論紀錄、R_edu 取捨、保留／修改／拒絕理由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71717D-B60A-4CF4-BF64-1E8F8A24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29250"/>
            <a:ext cx="8877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FDBA0B-75AE-4E8F-A20D-5ABBE5FC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72125"/>
            <a:ext cx="842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共同產出：brief｜權重｜證據標籤｜人類決策｜可否證測試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C6B057-2DF4-430D-AB1F-8383C5A4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4109F2-BA26-41B4-BA74-7D222869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86756683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E92299-1EB6-4E4D-9B59-99342A77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A8"/>
          </a:solidFill>
          <a:ln xmlns:a="http://schemas.openxmlformats.org/drawingml/2006/main" w="9525">
            <a:solidFill>
              <a:srgbClr val="6D5D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121AB-F1FE-4561-815D-7CDC5006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60D7D-5F93-4A0A-A652-F9575632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任務一：安裝與驗證 Skill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AFCEA-19A5-4F4C-85C0-E12A86E9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完成定義不是『看到檔案』，而是 Skill 能被載入、驗證並產生第一次輸出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221E8-E6B1-402F-965E-D1EE2D18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003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0">
            <a:solidFill>
              <a:srgbClr val="C9D8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8C26D-B6FA-4AE5-B278-62B9C868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0">
            <a:solidFill>
              <a:srgbClr val="C9D8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7DDAE-9F69-4CAE-AE86-FC2A494E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03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0">
            <a:solidFill>
              <a:srgbClr val="C9D8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A5F56-5897-4439-AC5A-194177C8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F5A96-8D48-43E0-8121-6A0E91F3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859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3202B-7E9D-42F4-B767-F017B513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安裝完整資料夾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4E96B5-5AFE-4B39-8FB6-4B929FDB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480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優先使用 $skill-installer game-design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542B7-126F-4F93-93AC-576199A3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A1A99D-BC76-4720-87B5-402592E7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859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4FE05-9644-4539-8414-3C2A20FB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480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確認路徑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7BAF7-8C43-4514-A93D-340DB735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480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...\game-design\SKILL.md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3BB1E4-5C4D-455A-BD93-D7135F98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764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0F90E-3378-4410-A39A-4B73CA63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859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BD0729-E5C2-4598-B08B-78C242B5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480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rPr>
              <a:t>重新載入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E01208-E03B-4291-B910-D323BD86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480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重啟 Codex 或 reload Skill list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09E1A3-417F-4632-B45B-73772A16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764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ABBCD7-F9CC-4D7E-BB08-47509D74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859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9AA117-1FCB-4D36-B717-08933E59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80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執行驗證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5168BC-F789-45FA-82A0-70C998DD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480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Skill is valid!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CB41EB-180B-47C7-B249-AE62B3DE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8204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4F9067-1B0E-4576-ADAD-8AA9F3F0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安裝位置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BBFFB9-7FFC-49CB-893C-8DFD8760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Windows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476A7B-098F-4A04-AE7E-F60BE7D0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%USERPROFILE%\.codex\skills\game-design\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A7D8B9-8D5F-480F-BADD-4F3E87BB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53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macOS / Linux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451041-FE60-4209-94E9-5BEA506E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53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~/.codex/skills/game-design/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762AEE-CD52-4D14-AD11-CE122F69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829300"/>
            <a:ext cx="67056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D69F61-DF14-4DFE-8B0D-E80E025B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934075"/>
            <a:ext cx="624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完成定義：SKILL.md 存在＋驗證通過＋Codex 已重新載入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8127D4-5696-44F4-A777-6D897E49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C134AE-7B72-46F8-889B-3E67902F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42402013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34F78A-28BD-4EBF-A36B-5E867C2C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A8"/>
          </a:solidFill>
          <a:ln xmlns:a="http://schemas.openxmlformats.org/drawingml/2006/main" w="9525">
            <a:solidFill>
              <a:srgbClr val="6D5D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21250-2300-4AE0-B847-CAAA8563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4BD3A-A093-4F1D-8E95-5A70D3B6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任務一：第一次使用，讓 Skill 真的工作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E4C02-A88A-47FD-A312-BE627427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學生把同一段 prompt 交給 Skill，再用證據檢查輸出是否符合規則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90984-2DEB-4DCF-8F70-67F85C24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77215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EDD69-2065-4C1F-AEF2-CF03FEB2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81150"/>
            <a:ext cx="520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rPr>
              <a:t>Teaching mode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066E0-E3C7-4E66-9215-0EA59791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為 [學習者] 設計 [學習主題] 的教育遊戲，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可在 [時間] 分鐘內於 [裝置] 遊玩。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先請我鎖定 L/E/M/A 優先順序與 G/C 懲罰。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產生 6 個真正不同的玩法，標示 Hypothesis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與 AI pre-score，套用 Hard Gates 與 G/R/D，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計算 deterministic R_edu。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回傳前三名、風險與每個候選的可否證測試。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不要替我選冠軍。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CB043-0A8E-4050-84BB-4E0111C1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352550"/>
            <a:ext cx="457200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7E264-4756-49FE-89D5-E6C83079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5811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要留下的證據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BBCC1-C0BC-41B9-A96A-E6F1D143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33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ABC25-7525-40B3-B41D-82E5AB11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09800"/>
            <a:ext cx="15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12B795-5ED8-4CD2-9F58-BB41DF13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71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安裝路徑或 installer 結果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50991-0CF5-4891-8643-6989AED4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28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4E008C-9540-4245-8F05-5B202DEE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05100"/>
            <a:ext cx="15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81F0C-A891-4B3E-9414-594978CF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670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Skill is valid! 驗證畫面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3F3092-309F-4C5F-95E4-84875FF2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24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73715E-0D1B-43D2-B4E2-D519A4DB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00400"/>
            <a:ext cx="15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CCC07-6307-445B-B0EB-B2643D7C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62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brief 與鎖定的權重 profile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E03DB-B47D-42AB-8B36-AD0F68BA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19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AB2535-82A3-44EF-9CCB-1300600F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95700"/>
            <a:ext cx="15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51F707-F6B1-4BB0-8092-A60E9275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576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6 個候選 ID 與前三名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F165AE-ACA3-47BB-AFCA-D7F80703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14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421D23-B3FD-4C7C-966A-9C23E165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91000"/>
            <a:ext cx="15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2752A9-BF98-432F-802B-46011928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52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一個人類決策與下一測試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CEA358-EBBB-41E5-A18B-830B6D88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10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9E06DC-10B7-4143-A1ED-59A9E0EE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86300"/>
            <a:ext cx="15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EABBAF-10E2-4C32-AEC8-19611D1F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482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一個仍屬 Hypothesis 的 AI pre-score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B1FF51-E7E8-413F-A251-18ADBC5E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05400"/>
            <a:ext cx="3905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0CE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29CF94-95A0-424D-ABF1-14410B4A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10175"/>
            <a:ext cx="3600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04A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704A00"/>
                </a:solidFill>
                <a:latin typeface="Microsoft JhengHei"/>
                <a:ea typeface="Microsoft JhengHei"/>
                <a:cs typeface="Microsoft JhengHei"/>
              </a:rPr>
              <a:t>檢查：AI 有沒有越過人類核准？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0843FB-E708-4AF9-9023-EFADD90C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D95322-759B-4F85-8425-1F2D3DBB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71913193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F2C0D6-DF9E-4585-8DA5-F6C9745A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A8"/>
          </a:solidFill>
          <a:ln xmlns:a="http://schemas.openxmlformats.org/drawingml/2006/main" w="9525">
            <a:solidFill>
              <a:srgbClr val="6D5D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BA423-75D0-4006-98BB-2AC44495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3DCD9-D6EB-4DB9-AB39-91EBD196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任務二：三輪討論，把概念邊界說清楚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34840-A88F-4B9F-BE97-47213A98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討論的重點不是背名詞，而是能把概念對應到設計決策與證據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CFC47-201B-4C45-82D6-C71E47DB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219450" cy="33718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7F4EC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50B67-5FCD-401A-A061-79949143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12370-F107-48A4-A05B-527BBBF3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00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92309D-E12F-4F20-A74C-6B80354A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8859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Loop round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42270-E93C-47C8-803C-06A69B1C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10 分鐘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0EED1-FA12-4985-B6B7-8098643C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68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26AF9-2CEE-4801-8B83-F986B669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686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State → Action → Reward → Next State</a:t>
            </a:r>
          </a:p>
          <a:p xmlns:a="http://schemas.openxmlformats.org/drawingml/2006/main">
            <a:pPr algn="ctr">
              <a:def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把四個詞對應到 COAST，</a:t>
            </a:r>
          </a:p>
          <a:p xmlns:a="http://schemas.openxmlformats.org/drawingml/2006/main">
            <a:pPr algn="ctr">
              <a:def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再標出類比停止的地方。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E4851-8AB5-4FC2-A6AE-DC797C48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219450" cy="33718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7F4EC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657E4-76A1-49A0-A062-9B821C63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09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4B8636-73CE-4065-A169-1536E694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00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39FD58-870E-4614-ADFF-1CC533C6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8859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Reward round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6B1994-AD03-4E00-A467-F0F82C4C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669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10 分鐘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8DCF8-557E-47A9-929F-2831767D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24150"/>
            <a:ext cx="268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E9BBAE-0CB3-4CDB-8E31-F0C3F4F5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48000"/>
            <a:ext cx="2686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從 L/E/M/A 選兩項優先</a:t>
            </a:r>
          </a:p>
          <a:p xmlns:a="http://schemas.openxmlformats.org/drawingml/2006/main">
            <a:pPr algn="ctr">
              <a:def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說明權重與資料來源，</a:t>
            </a:r>
          </a:p>
          <a:p xmlns:a="http://schemas.openxmlformats.org/drawingml/2006/main">
            <a:pPr algn="ctr">
              <a:def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指出一個 G 或 C 風險。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928C57-5D5A-4C73-8362-F2B7649C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24000"/>
            <a:ext cx="3219450" cy="33718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7F4EC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F057ED-29F4-45D4-8B84-47ACB75F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90151D-C341-4344-A4AA-F444872E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000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E265D6-AF76-474F-A076-23B53D1F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859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Decision round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677349-9685-4911-9CEE-C103774E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669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10 分鐘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F25C0D-DD92-400C-A291-9D8D248E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2686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47D2E9-15CE-45A4-81E8-984D9CF8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2686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比較 AI 與小組排名</a:t>
            </a:r>
          </a:p>
          <a:p xmlns:a="http://schemas.openxmlformats.org/drawingml/2006/main">
            <a:pPr algn="ctr">
              <a:def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保留、修改或拒絕一案，</a:t>
            </a:r>
          </a:p>
          <a:p xmlns:a="http://schemas.openxmlformats.org/drawingml/2006/main">
            <a:pPr algn="ctr">
              <a:def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提出能推翻它的測試。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C91825-9E8E-472E-BE55-D954E484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91150"/>
            <a:ext cx="9067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618D5E-B0B3-4B97-8664-85926565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05450"/>
            <a:ext cx="861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角色分工：主持人｜記錄者｜懷疑者｜測試設計者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DFA3B8-45AA-4B88-AEDC-438032ED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90D359-0EC3-4C47-91B5-BCD93FE6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01239027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47D8264-15F5-4A30-8327-B5FEA83F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A8"/>
          </a:solidFill>
          <a:ln xmlns:a="http://schemas.openxmlformats.org/drawingml/2006/main" w="9525">
            <a:solidFill>
              <a:srgbClr val="6D5D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6B313-3367-4A05-88BC-7F502848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9034D-BAED-4239-9DC7-4857D7ED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學習單與評量：最後留下能被檢查的理由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D90E3-A868-42D8-8B92-40EFEC92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教師評量證據品質與決策過程，不評量學生是否同意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1B41F-44CD-4094-95D4-F67F250B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90550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629AB-7620-4981-8321-7EC23C00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81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小組決策單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FCCB3-EADC-4EFE-9C2F-654BF737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14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B7B59-3B45-4BC8-96A7-DDE07E66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76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我的 brief：玩家／目標／限制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E5F1AF-0D7E-4CCB-8B6D-B8096681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9525">
            <a:solidFill>
              <a:srgbClr val="C9D8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21BC5-E48D-479E-B6F4-05F0E9C6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953A0-87A8-42BC-874F-2497B3BD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90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六個候選：差異在哪個設計軸？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8F326-4873-4E37-8836-00743E37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765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9525">
            <a:solidFill>
              <a:srgbClr val="C9D8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EFEB2A-3643-4ABB-8F30-1481D7F4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9B9F99-ACF6-42D1-AC58-570BD7EE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05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鎖定權重：L __  E __  M __  A __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8F43B-3913-4338-ACE5-417E4A2A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90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9525">
            <a:solidFill>
              <a:srgbClr val="C9D8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7CCD5-E2F7-41DA-990E-7440E93A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A8"/>
          </a:solidFill>
          <a:ln xmlns:a="http://schemas.openxmlformats.org/drawingml/2006/main" w="9525">
            <a:solidFill>
              <a:srgbClr val="6D5D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69C55D-04DD-4C9B-A36B-382BB02B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19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證據標籤：Hypothesis／AI pre-score／玩家證據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7DF30A-12BB-4666-A8F8-2D8F97F0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052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9525">
            <a:solidFill>
              <a:srgbClr val="C9D8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56BE64-86E3-48C7-9015-F81BC740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A0704C-C031-407A-81A8-3532E4A1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3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人類決策：保留／修改／拒絕／暫停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7F0CCB-16E7-4CE3-B77E-8B6704A1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196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9525">
            <a:solidFill>
              <a:srgbClr val="C9D8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1ED08E-BFAA-4E86-B7C3-B215750C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9B78"/>
          </a:solidFill>
          <a:ln xmlns:a="http://schemas.openxmlformats.org/drawingml/2006/main" w="9525">
            <a:solidFill>
              <a:srgbClr val="4D9B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23B4CA-FF7D-4085-A801-78F7A9F5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8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下一個測試：什麼結果會推翻我們？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417A18-A71E-4C00-8CB8-2D42321F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339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A"/>
          </a:solidFill>
          <a:ln xmlns:a="http://schemas.openxmlformats.org/drawingml/2006/main" w="9525">
            <a:solidFill>
              <a:srgbClr val="C9D8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A894E7-299F-4186-8A0E-63ED7E39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352550"/>
            <a:ext cx="443865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114B5A-1C93-4190-98FD-11F0CCBA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5811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評量權重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3401AE-E2A6-4472-B6F3-0F5AB97A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問題與限制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89FCAC-36F1-4F9A-8FD6-6DF9D79E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33600"/>
            <a:ext cx="1428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9525">
            <a:solidFill>
              <a:srgbClr val="E9F0F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45248F-ADED-4AC8-81BC-D8F03364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33600"/>
            <a:ext cx="1428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FAD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C5BA0B-B1BC-4829-8309-69A80AF0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1145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20%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93B511-8E5C-4540-8B13-CE626B6C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098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候選差異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5C863B-BAC6-4BF6-A435-ABC181DC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28900"/>
            <a:ext cx="1428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9525">
            <a:solidFill>
              <a:srgbClr val="E9F0F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9674A6-6D3D-45B2-A2D6-049489EB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28900"/>
            <a:ext cx="1071563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8792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9D9C88-04F8-4077-93CD-F797C8AB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60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15%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530E90-137A-4F5B-8D58-BE4036D1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05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G/R/D 證據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3319C8-4C66-48B2-A8B8-E723059B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24200"/>
            <a:ext cx="1428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9525">
            <a:solidFill>
              <a:srgbClr val="E9F0F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907A91-B862-4185-BA74-B40F4FA1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24200"/>
            <a:ext cx="1428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5DA8"/>
          </a:solidFill>
          <a:ln xmlns:a="http://schemas.openxmlformats.org/drawingml/2006/main" w="9525">
            <a:solidFill>
              <a:srgbClr val="6D5DA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EB5787-A0ED-47EB-92CA-10552E43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1051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D5D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D5DA8"/>
                </a:solidFill>
                <a:latin typeface="Microsoft JhengHei"/>
                <a:ea typeface="Microsoft JhengHei"/>
                <a:cs typeface="Microsoft JhengHei"/>
              </a:rPr>
              <a:t>20%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10DDEF-850F-495F-B2BD-22F30245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004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迭代理由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079C1E-FD4E-478C-AA1A-4933C3E4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19500"/>
            <a:ext cx="1428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9525">
            <a:solidFill>
              <a:srgbClr val="E9F0F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DF8034-B51D-4B2B-894B-BF6E6DCB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19500"/>
            <a:ext cx="1428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59CBB8-4FD9-4ABB-BA9E-44144A3E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6004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20%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D9F687-834E-48A4-81C0-31F464C0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957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原型測試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B30F11-043E-4B52-9E15-3965F0B8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14800"/>
            <a:ext cx="1428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9525">
            <a:solidFill>
              <a:srgbClr val="E9F0F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93FA77-5075-46C7-8354-971012D6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14800"/>
            <a:ext cx="1071563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9B78"/>
          </a:solidFill>
          <a:ln xmlns:a="http://schemas.openxmlformats.org/drawingml/2006/main" w="9525">
            <a:solidFill>
              <a:srgbClr val="4D9B7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74D90C-C433-4134-94C1-0C4DFB7D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095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rPr>
              <a:t>15%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123FFD-5D18-4C83-8D63-2268A9DA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91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AI 素養與人類決策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F0C5DE-3014-4C85-B04C-17EC3A1E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10100"/>
            <a:ext cx="1428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9525">
            <a:solidFill>
              <a:srgbClr val="E9F0F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AE31A6-013E-4F5C-BCFB-B37B3CBB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10100"/>
            <a:ext cx="714375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A52B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2F0DA5-9282-4D22-B5DB-910C37BE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591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rPr>
              <a:t>10%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B405B3-735B-4D64-A098-1955237E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29200"/>
            <a:ext cx="3752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EDE39F6-9BD3-4119-A618-D2D551F7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33975"/>
            <a:ext cx="3448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理由與證據，比 AI 排名更重要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79654B5-96D7-4BCE-81C0-C1859206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3ACAFE0-3C20-4FEE-B863-F73B111C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30376836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3EFA2B-F9DB-453D-A47E-5DE0E53E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24145-1782-4563-94DD-622DFA7D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685D3-03EB-474A-9700-D2AD9ED8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F3D"/>
                </a:solidFill>
                <a:latin typeface="Microsoft JhengHei"/>
                <a:ea typeface="Microsoft JhengHei"/>
                <a:cs typeface="Microsoft JhengHei"/>
              </a:rPr>
              <a:t>專有名詞 Glossary：看到縮寫，就知道它在負責什麼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FC0B1-70DB-4555-9B40-5F478D43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這一頁是全簡報的速查表；第一次看到英文名詞時，請回來對照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214EA-9DE9-488A-95C6-276EA458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3429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A71E2-A477-4761-A1F8-06EE681A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12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AI｜Artificial Intelligence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BB011-391D-4EBD-B515-D5B0B2CA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人工智慧：協助生成、比較、記錄；不替人類核准。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228B0-136D-467F-99EE-FD6CE992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3429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2836D4-7433-482A-86E8-DDFBE442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12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RL｜Reinforcement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92E54-3F2F-4F9A-947C-43D217FC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強化學習：Agent 與 Environment 反覆互動，依 Reward 更新 Policy。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2DF341-4FF1-4BBC-975C-97DBF301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3429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0732A-E2D5-49A5-A3EF-03190AF2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312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COAST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7EDF6-10CB-489F-B831-58083868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本簡報的海岸氣候教育遊戲案例名稱；規格未將它當作字母縮寫。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6BE6A-E8D6-443C-9A0E-7B7A686C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3429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1D104-1135-4178-ACA6-BB5D7B7E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12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8222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rPr>
              <a:t>CADS｜Climate Resilience / Coastal Society / Integrated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42B94-CD3F-4244-8C6E-0F9101E2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三個海岸測量構面：氣候韌性、海岸社會、整合行動。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3A6F97-736A-436C-9069-42FF8CCA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352550"/>
            <a:ext cx="3429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5D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E3EA66-A19D-4183-B4FE-43D4EACA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66850"/>
            <a:ext cx="312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D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D5DA8"/>
                </a:solidFill>
                <a:latin typeface="Microsoft JhengHei"/>
                <a:ea typeface="Microsoft JhengHei"/>
                <a:cs typeface="Microsoft JhengHei"/>
              </a:rPr>
              <a:t>R_edu｜Educational Reward diagnostic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EB9DA9-9A50-41A7-A64D-B35BD0EE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5260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教育獎勵診斷值：透明檢查玩法取捨，不是正式學習成效。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1D2F1E-00B5-4844-9A65-9AC91836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62200"/>
            <a:ext cx="3429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9B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B18629-B805-4F2E-A834-18E7E3D8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312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rPr>
              <a:t>L/E/M/A｜Learning / Engagement / Motivation / Appropriate Challenge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72FA7E-CF62-41C3-BC20-DE7849DF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學習、投入、動機、適切挑戰：四個正向元件。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1155F6-A76E-4EF5-BEBA-BF9CF185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71850"/>
            <a:ext cx="3429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D9A52C-CEB6-4DDF-9EF7-FCDC2CAE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86150"/>
            <a:ext cx="312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G/C｜Guessing / Cognitive overload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8ED21F-C1DD-459E-9D36-044E4737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7190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猜答／鑽漏洞與認知負荷：兩個需要扣分或審查的風險。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074C21-3940-4FB2-8A46-92CFC30A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81500"/>
            <a:ext cx="3429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26FA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D62F05-1A46-4454-8AF1-A26F2E5C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95800"/>
            <a:ext cx="312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G/R/D｜Game / Research / Development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1EF145-17EF-47FC-BB3D-5C0A7926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8155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13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 Experience、Research Validity、Development Feasibility：三條獨立評分軸。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9ACB8B-279F-497F-A55B-6EAF26E0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52550"/>
            <a:ext cx="3429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D879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1CC627-B3BA-42C2-9326-B8054A5E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66850"/>
            <a:ext cx="312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Hard Gates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6160F2-E4C4-47DC-B480-D47AE77B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5260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硬性關卡：安全、倫理、效度、成本等不可被平均分補救的門檻。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5C479-5305-4430-90DC-33195C75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62200"/>
            <a:ext cx="3429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5DA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83E40E-C045-42BC-A92E-30A6B4B6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76500"/>
            <a:ext cx="312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D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D5DA8"/>
                </a:solidFill>
                <a:latin typeface="Microsoft JhengHei"/>
                <a:ea typeface="Microsoft JhengHei"/>
                <a:cs typeface="Microsoft JhengHei"/>
              </a:rPr>
              <a:t>Pareto front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555031-4AB8-439E-8F98-9648F205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帕累托前緣：沒有被另一方案在所有重要面向全面支配的候選集合。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15FD39-9679-4D26-95D3-4154EF67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71850"/>
            <a:ext cx="3429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C90273-9381-429E-BE08-2059582F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86150"/>
            <a:ext cx="312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3A52B"/>
                </a:solidFill>
                <a:latin typeface="Microsoft JhengHei"/>
                <a:ea typeface="Microsoft JhengHei"/>
                <a:cs typeface="Microsoft JhengHei"/>
              </a:rPr>
              <a:t>State / Action / Reward / Policy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70EE10-F80E-4303-9E41-127C8636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7190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狀態／行動／回饋／策略：描述 Reinforcement Learning 循環的四個核心詞。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2BE17F-6235-4355-8386-C29FA919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81500"/>
            <a:ext cx="3429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9B7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568558-58D1-4FF9-A56B-880738BC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95800"/>
            <a:ext cx="312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rPr>
              <a:t>Prototype / Vertical Slice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0CF886-EE78-4B95-8B4B-18821E91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8155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原型／垂直切片：用最小可測版本檢查最高風險假設。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E53E62-6C45-49E0-8275-CB7B662C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92A3B"/>
          </a:solidFill>
          <a:ln xmlns:a="http://schemas.openxmlformats.org/drawingml/2006/main" w="9525">
            <a:solidFill>
              <a:srgbClr val="092A3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EEAFCA-D985-4FC2-B003-36977820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112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其他縮寫：LLM = Large Language Model；SVG = Scalable Vector Graphics；CSS = Cascading Style Sheets；UI = User Interface；QA = Quality Assurance；PRE／POST = 前測／後測。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C27CF1-E235-42CC-9DFE-580E8559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C96E0A-9C35-400E-B33C-5B28FA34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27780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09823848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51E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CF4A94-7CF4-4741-92D2-B219B4A1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9525">
            <a:solidFill>
              <a:srgbClr val="E2605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03A82-3F13-47EA-90C4-9232C6F0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E7660-8952-49E6-86F8-29E5D36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五條規則，守住好玩、教學與研究效度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3B755-80BE-4B65-B3E6-69638D97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D0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B7D0D8"/>
                </a:solidFill>
                <a:latin typeface="Microsoft JhengHei"/>
                <a:ea typeface="Microsoft JhengHei"/>
                <a:cs typeface="Microsoft JhengHei"/>
              </a:rPr>
              <a:t>把AI變成決策夥伴，而不是自動裁判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5AAFA-D7B5-4D20-99E8-69763257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0382250" cy="476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576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8F5C3-090C-432A-B10A-F4D1D29B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52B"/>
          </a:solidFill>
          <a:ln xmlns:a="http://schemas.openxmlformats.org/drawingml/2006/main" w="9525">
            <a:solidFill>
              <a:srgbClr val="E3A5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F56A4-F5FB-48E7-9953-EA14B444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670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8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rPr>
              <a:t>人類</a:t>
            </a:r>
          </a:p>
          <a:p xmlns:a="http://schemas.openxmlformats.org/drawingml/2006/main">
            <a:pPr algn="ctr">
              <a:defRPr sz="2175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51E2B"/>
                </a:solidFill>
                <a:latin typeface="Microsoft JhengHei"/>
                <a:ea typeface="Microsoft JhengHei"/>
                <a:cs typeface="Microsoft JhengHei"/>
              </a:rPr>
              <a:t>決策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95C82-4E37-4813-BDBE-60250163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335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FA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5A235-AEC0-421A-BEE6-BBF34056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5049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00884-BBC0-4923-83C6-BFCA3420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289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26FAD"/>
                </a:solidFill>
                <a:latin typeface="Microsoft JhengHei"/>
                <a:ea typeface="Microsoft JhengHei"/>
                <a:cs typeface="Microsoft JhengHei"/>
              </a:rPr>
              <a:t>先競爭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88186A-0FE2-4F9B-BA56-4F723658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C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C8DCE2"/>
                </a:solidFill>
                <a:latin typeface="Microsoft JhengHei"/>
                <a:ea typeface="Microsoft JhengHei"/>
                <a:cs typeface="Microsoft JhengHei"/>
              </a:rPr>
              <a:t>多個真不同玩法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77A8D-FF75-4767-BFDC-5BD70A39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335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879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CFC29E-DB52-483B-9B6A-55BD93D2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5049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5B4CB4-FD9D-4E8D-B112-43930260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289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D8792"/>
                </a:solidFill>
                <a:latin typeface="Microsoft JhengHei"/>
                <a:ea typeface="Microsoft JhengHei"/>
                <a:cs typeface="Microsoft JhengHei"/>
              </a:rPr>
              <a:t>先過門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22566-AF77-4664-B79D-03A1FFB1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3370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C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C8DCE2"/>
                </a:solidFill>
                <a:latin typeface="Microsoft JhengHei"/>
                <a:ea typeface="Microsoft JhengHei"/>
                <a:cs typeface="Microsoft JhengHei"/>
              </a:rPr>
              <a:t>Hard Gates不平均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BB815-50F2-4E99-AAEE-F23F8DB1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D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7F0D8-3732-46E8-B20F-E67F04D6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267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AFC4DA-6FD4-47EB-B566-BE02B56F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911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D5D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6D5DA8"/>
                </a:solidFill>
                <a:latin typeface="Microsoft JhengHei"/>
                <a:ea typeface="Microsoft JhengHei"/>
                <a:cs typeface="Microsoft JhengHei"/>
              </a:rPr>
              <a:t>先鎖權重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B965B0-1DCF-4ED8-B86D-43FD437C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9595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C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C8DCE2"/>
                </a:solidFill>
                <a:latin typeface="Microsoft JhengHei"/>
                <a:ea typeface="Microsoft JhengHei"/>
                <a:cs typeface="Microsoft JhengHei"/>
              </a:rPr>
              <a:t>再看候選分數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80D029-AA1A-4D93-8185-15BA355A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434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05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7500A9-C11D-4283-8805-896A7588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514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FFC491-22B4-4541-8F59-216D5A80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6388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26055"/>
                </a:solidFill>
                <a:latin typeface="Microsoft JhengHei"/>
                <a:ea typeface="Microsoft JhengHei"/>
                <a:cs typeface="Microsoft JhengHei"/>
              </a:rPr>
              <a:t>先選玩法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7B96E8-3D45-4379-B659-9455A676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4360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C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C8DCE2"/>
                </a:solidFill>
                <a:latin typeface="Microsoft JhengHei"/>
                <a:ea typeface="Microsoft JhengHei"/>
                <a:cs typeface="Microsoft JhengHei"/>
              </a:rPr>
              <a:t>再做三款視覺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DA710A-108F-4383-AE5D-7483B164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9B7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1A2E93-CB44-4B88-A4A1-FF21BD1C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67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91985A-E855-4280-A4E1-5B1DAFE2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911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4D9B78"/>
                </a:solidFill>
                <a:latin typeface="Microsoft JhengHei"/>
                <a:ea typeface="Microsoft JhengHei"/>
                <a:cs typeface="Microsoft JhengHei"/>
              </a:rPr>
              <a:t>以證據更新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FE39A4-5C1A-4216-908B-733A03AF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9595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CE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C8DCE2"/>
                </a:solidFill>
                <a:latin typeface="Microsoft JhengHei"/>
                <a:ea typeface="Microsoft JhengHei"/>
                <a:cs typeface="Microsoft JhengHei"/>
              </a:rPr>
              <a:t>玩家高於AI自評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2A80C9-FF20-42B6-874A-03B0159A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229350"/>
            <a:ext cx="800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55C5D0"/>
                </a:solidFill>
                <a:latin typeface="Microsoft JhengHei"/>
                <a:ea typeface="Microsoft JhengHei"/>
                <a:cs typeface="Microsoft JhengHei"/>
              </a:rPr>
              <a:t>AI提出　·　證據淘汰　·　人類核准　·　玩家驗證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C52432-180D-4D31-9C0B-BF0F08E0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1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rPr>
              <a:t>GAME-DESIGN SKILL · INFOGRAPHIC EDITION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21AD2D-709B-4605-BAF1-25F34E30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9AB3BD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237619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2026-09-05T02:04:19.7040000Z</dcterms:created>
  <dcterms:modified xsi:type="dcterms:W3CDTF">2026-09-05T02:04:19.7040000Z</dcterms:modified>
</coreProperties>
</file>